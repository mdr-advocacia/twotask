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04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457200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A3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HIT.LAB  ·  DESENVOLVIMENTO INTERNO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LEGALOPS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HIT.LAB constrói em casa — além das ferramentas parceiras.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36576" cy="1737360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o melhor do mercado — </a:t>
            </a:r>
            <a:r>
              <a:rPr lang="en-US" sz="2000" b="1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One, INOV.AI, Oystr</a:t>
            </a:r>
            <a:r>
              <a:rPr lang="en-US" sz="2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Mas quando a operação requer </a:t>
            </a:r>
            <a:r>
              <a:rPr lang="en-US" sz="2000" b="1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</a:t>
            </a:r>
            <a:r>
              <a:rPr lang="en-US" sz="2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HIT.LAB constrói.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 err="1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</a:t>
            </a:r>
            <a:r>
              <a:rPr lang="en-US" sz="20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plataformas proprietárias, integradas ao Legal One, hoje em produção.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" y="5029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22376" y="5321808"/>
            <a:ext cx="658368" cy="658368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486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9616" y="5321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DunaFlow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9616" y="5687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publicações e prazos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88536" y="5029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517136" y="5321808"/>
            <a:ext cx="658368" cy="658368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54864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94376" y="5321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94376" y="5687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gestão documental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83296" y="5029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8311896" y="5321808"/>
            <a:ext cx="658368" cy="658368"/>
          </a:xfrm>
          <a:prstGeom prst="ellipse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548640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89136" y="5321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089136" y="5687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automatizado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561320" y="256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MDR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10561320" y="713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457200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A3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PROPRIETÁRIAS  ·  EM PRODUÇÃO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FRENTES EM PRODUÇÃO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Construídas em casa, integradas ao Legal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3666744" cy="4160520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3666744" cy="594360"/>
          </a:xfrm>
          <a:prstGeom prst="roundRect">
            <a:avLst>
              <a:gd name="adj" fmla="val 15385"/>
            </a:avLst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3666744" cy="2743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666744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DUNAFLOW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3044952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publicações e gestão de prazos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657600"/>
            <a:ext cx="3118104" cy="0"/>
          </a:xfrm>
          <a:prstGeom prst="line">
            <a:avLst/>
          </a:prstGeom>
          <a:noFill/>
          <a:ln w="9525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40080" y="387705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22960" y="37947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publicações do DJEN com IA (Claude Haiku) em 28 fases processuais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437997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22960" y="429768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prazos qualificados ao advogado certo no mesmo dia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488289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22960" y="480060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de maturidade processual em 7 níveis, CNJ + DataJud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538581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22960" y="530352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RPA sobre Legal One (embargos, agravos, CNJ órfãos)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5897880"/>
            <a:ext cx="3118104" cy="320040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40080" y="58978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FastAPI · Playwright · Legal One API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61104" y="2240280"/>
            <a:ext cx="3666744" cy="4160520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261104" y="2240280"/>
            <a:ext cx="3666744" cy="594360"/>
          </a:xfrm>
          <a:prstGeom prst="roundRect">
            <a:avLst>
              <a:gd name="adj" fmla="val 15385"/>
            </a:avLst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261104" y="2560320"/>
            <a:ext cx="3666744" cy="2743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261104" y="2834640"/>
            <a:ext cx="3666744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489704" y="23317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</a:t>
            </a:r>
            <a:endParaRPr lang="en-US" sz="18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306324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84064" y="3044952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peças e gestão documental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35424" y="3657600"/>
            <a:ext cx="3118104" cy="0"/>
          </a:xfrm>
          <a:prstGeom prst="line">
            <a:avLst/>
          </a:prstGeom>
          <a:noFill/>
          <a:ln w="9525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8"/>
          <p:cNvSpPr/>
          <p:nvPr/>
        </p:nvSpPr>
        <p:spPr>
          <a:xfrm>
            <a:off x="4535424" y="387705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4718304" y="37947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assistida de peças a partir de templates + dados do processo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535424" y="437997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1"/>
          <p:cNvSpPr/>
          <p:nvPr/>
        </p:nvSpPr>
        <p:spPr>
          <a:xfrm>
            <a:off x="4718304" y="429768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partes, valores e fundamentos de petições e sentenças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535424" y="488289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4718304" y="480060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 em todo o acervo documental do escritório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535424" y="538581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5"/>
          <p:cNvSpPr/>
          <p:nvPr/>
        </p:nvSpPr>
        <p:spPr>
          <a:xfrm>
            <a:off x="4718304" y="530352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Organização, versionamento e rastreabilidade centralizados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535424" y="5897880"/>
            <a:ext cx="3118104" cy="320040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7"/>
          <p:cNvSpPr/>
          <p:nvPr/>
        </p:nvSpPr>
        <p:spPr>
          <a:xfrm>
            <a:off x="4535424" y="58978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Vector DB · Templates jurídicos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156448" y="2240280"/>
            <a:ext cx="3666744" cy="4160520"/>
          </a:xfrm>
          <a:prstGeom prst="roundRect">
            <a:avLst>
              <a:gd name="adj" fmla="val 2494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Shape 39"/>
          <p:cNvSpPr/>
          <p:nvPr/>
        </p:nvSpPr>
        <p:spPr>
          <a:xfrm>
            <a:off x="8156448" y="2240280"/>
            <a:ext cx="3666744" cy="594360"/>
          </a:xfrm>
          <a:prstGeom prst="roundRect">
            <a:avLst>
              <a:gd name="adj" fmla="val 15385"/>
            </a:avLst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0"/>
          <p:cNvSpPr/>
          <p:nvPr/>
        </p:nvSpPr>
        <p:spPr>
          <a:xfrm>
            <a:off x="8156448" y="2560320"/>
            <a:ext cx="3666744" cy="2743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1"/>
          <p:cNvSpPr/>
          <p:nvPr/>
        </p:nvSpPr>
        <p:spPr>
          <a:xfrm>
            <a:off x="8156448" y="2834640"/>
            <a:ext cx="3666744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2"/>
          <p:cNvSpPr/>
          <p:nvPr/>
        </p:nvSpPr>
        <p:spPr>
          <a:xfrm>
            <a:off x="8385048" y="23317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</a:t>
            </a:r>
            <a:endParaRPr lang="en-US" sz="1800" dirty="0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063240"/>
            <a:ext cx="457200" cy="45720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979408" y="3044952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automatizado de novos processos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430768" y="3657600"/>
            <a:ext cx="3118104" cy="0"/>
          </a:xfrm>
          <a:prstGeom prst="line">
            <a:avLst/>
          </a:prstGeom>
          <a:noFill/>
          <a:ln w="9525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5"/>
          <p:cNvSpPr/>
          <p:nvPr/>
        </p:nvSpPr>
        <p:spPr>
          <a:xfrm>
            <a:off x="8430768" y="387705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6"/>
          <p:cNvSpPr/>
          <p:nvPr/>
        </p:nvSpPr>
        <p:spPr>
          <a:xfrm>
            <a:off x="8613648" y="37947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processo novo vindo do portal do cliente ou de planilha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8430768" y="437997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8"/>
          <p:cNvSpPr/>
          <p:nvPr/>
        </p:nvSpPr>
        <p:spPr>
          <a:xfrm>
            <a:off x="8613648" y="429768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no Legal One com dados completos: partes, valores, comarca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8430768" y="488289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0"/>
          <p:cNvSpPr/>
          <p:nvPr/>
        </p:nvSpPr>
        <p:spPr>
          <a:xfrm>
            <a:off x="8613648" y="480060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natureza, contingência e área de atuação antes de salvar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8430768" y="5385816"/>
            <a:ext cx="64008" cy="64008"/>
          </a:xfrm>
          <a:prstGeom prst="ellipse">
            <a:avLst/>
          </a:prstGeom>
          <a:solidFill>
            <a:srgbClr val="A3875F"/>
          </a:solidFill>
          <a:ln w="12700">
            <a:solidFill>
              <a:srgbClr val="A387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2"/>
          <p:cNvSpPr/>
          <p:nvPr/>
        </p:nvSpPr>
        <p:spPr>
          <a:xfrm>
            <a:off x="8613648" y="530352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a equipe de cadastro para revisão e exceções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8430768" y="5897880"/>
            <a:ext cx="3118104" cy="320040"/>
          </a:xfrm>
          <a:prstGeom prst="rect">
            <a:avLst/>
          </a:prstGeom>
          <a:solidFill>
            <a:srgbClr val="F4F2EE"/>
          </a:solidFill>
          <a:ln w="6350">
            <a:solidFill>
              <a:srgbClr val="E6E1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4"/>
          <p:cNvSpPr/>
          <p:nvPr/>
        </p:nvSpPr>
        <p:spPr>
          <a:xfrm>
            <a:off x="8430768" y="589788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A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· Playwright · Legal One API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10561320" y="256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MDR</a:t>
            </a:r>
            <a:endParaRPr lang="en-US" sz="2600" dirty="0"/>
          </a:p>
        </p:txBody>
      </p:sp>
      <p:sp>
        <p:nvSpPr>
          <p:cNvPr id="61" name="Text 56"/>
          <p:cNvSpPr/>
          <p:nvPr/>
        </p:nvSpPr>
        <p:spPr>
          <a:xfrm>
            <a:off x="10561320" y="713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457200" cy="36576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A38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CONSTRUIR EM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ESSA CAMADA ENTREGA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Ganhos que ferramentas de mercado sozinhas não dão.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" y="2331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39496" y="233172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59536" y="265176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8072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36776" y="26243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AUTONOMIA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636776" y="306324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636776" y="31729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dependemos de roadmap externo para o que é core da operação. O que a carteira precisa, construímos e colocamos em produção — em sprints do HIT.LAB, não em releases de fornecedor.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54496" y="2331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254496" y="233172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574536" y="265176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8072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51776" y="26243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VELOCIDADE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51776" y="306324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7351776" y="31729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manual ao mesmo dia: publicações lidas e distribuídas, processos cadastrados e peças geradas em horas, não em dias. A operação passa a responder no ritmo do cliente.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9496" y="44805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39496" y="448056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859536" y="480060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95604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36776" y="47731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1636776" y="521208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1636776" y="53218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 revisão humana (HITL) onde importa. Rastreabilidade em todas as etapas e auditoria completa — nada é feito sem deixar registro e responsável.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54496" y="44805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3"/>
          <p:cNvSpPr/>
          <p:nvPr/>
        </p:nvSpPr>
        <p:spPr>
          <a:xfrm>
            <a:off x="6254496" y="4480560"/>
            <a:ext cx="91440" cy="192024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4"/>
          <p:cNvSpPr/>
          <p:nvPr/>
        </p:nvSpPr>
        <p:spPr>
          <a:xfrm>
            <a:off x="6574536" y="4800600"/>
            <a:ext cx="640080" cy="640080"/>
          </a:xfrm>
          <a:prstGeom prst="ellipse">
            <a:avLst/>
          </a:prstGeom>
          <a:solidFill>
            <a:srgbClr val="F4F2EE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95604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51776" y="47731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7351776" y="5212080"/>
            <a:ext cx="548640" cy="32004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/>
          <p:nvPr/>
        </p:nvSpPr>
        <p:spPr>
          <a:xfrm>
            <a:off x="7351776" y="53218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equipe dá conta de um volume muito maior. O crescimento da carteira não puxa linearmente o tamanho do time — a capacidade escala com tecnologia, não com headcount.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02920" y="6446520"/>
            <a:ext cx="11201400" cy="274320"/>
          </a:xfrm>
          <a:prstGeom prst="rect">
            <a:avLst/>
          </a:prstGeom>
          <a:solidFill>
            <a:srgbClr val="1F2C44"/>
          </a:solidFill>
          <a:ln w="12700">
            <a:solidFill>
              <a:srgbClr val="1F2C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9"/>
          <p:cNvSpPr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solidFill>
            <a:srgbClr val="C8AC7F"/>
          </a:solidFill>
          <a:ln w="12700">
            <a:solidFill>
              <a:srgbClr val="C8AC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0"/>
          <p:cNvSpPr/>
          <p:nvPr/>
        </p:nvSpPr>
        <p:spPr>
          <a:xfrm>
            <a:off x="502920" y="64465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LEGAL ONE  ·  HOJE EM PRODUÇÃO NO HIT.LAB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0561320" y="256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F2C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MDR</a:t>
            </a:r>
            <a:endParaRPr lang="en-US" sz="2600" dirty="0"/>
          </a:p>
        </p:txBody>
      </p:sp>
      <p:sp>
        <p:nvSpPr>
          <p:cNvPr id="38" name="Text 32"/>
          <p:cNvSpPr/>
          <p:nvPr/>
        </p:nvSpPr>
        <p:spPr>
          <a:xfrm>
            <a:off x="10561320" y="713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F2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444</Words>
  <Application>Microsoft Office PowerPoint</Application>
  <PresentationFormat>Widescreen</PresentationFormat>
  <Paragraphs>56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Montserrat</vt:lpstr>
      <vt:lpstr>Office Theme</vt:lpstr>
      <vt:lpstr>Apresentação do PowerPoint</vt:lpstr>
      <vt:lpstr>Apresentação do PowerPoint</vt:lpstr>
      <vt:lpstr>Apresentação do PowerPoint</vt:lpstr>
    </vt:vector>
  </TitlesOfParts>
  <Company>MDR Advocacia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LegalOps próprios — slides adicionais</dc:title>
  <dc:subject>PptxGenJS Presentation</dc:subject>
  <dc:creator>MDR Advocacia — HIT.LAB</dc:creator>
  <cp:lastModifiedBy>Jonilson Vilela</cp:lastModifiedBy>
  <cp:revision>4</cp:revision>
  <dcterms:created xsi:type="dcterms:W3CDTF">2026-04-23T14:08:50Z</dcterms:created>
  <dcterms:modified xsi:type="dcterms:W3CDTF">2026-04-23T14:12:44Z</dcterms:modified>
</cp:coreProperties>
</file>