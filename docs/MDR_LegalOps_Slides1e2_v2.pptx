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6204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22960"/>
            <a:ext cx="457200" cy="36576"/>
          </a:xfrm>
          <a:prstGeom prst="rect">
            <a:avLst/>
          </a:prstGeom>
          <a:solidFill>
            <a:srgbClr val="C8AC7F"/>
          </a:solidFill>
          <a:ln w="12700">
            <a:solidFill>
              <a:srgbClr val="C8AC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097280" y="731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0" dirty="0">
                <a:solidFill>
                  <a:srgbClr val="A38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HIT.LAB  ·  DESENVOLVIMENTO INTERNO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 err="1">
                <a:solidFill>
                  <a:srgbClr val="1F2C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LegalOps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02920" y="20574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A375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o HIT.LAB constrói em casa — além das ferramentas parceiras.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2926080"/>
            <a:ext cx="36576" cy="1737360"/>
          </a:xfrm>
          <a:prstGeom prst="rect">
            <a:avLst/>
          </a:prstGeom>
          <a:solidFill>
            <a:srgbClr val="C8AC7F"/>
          </a:solidFill>
          <a:ln w="12700">
            <a:solidFill>
              <a:srgbClr val="C8AC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10789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B33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Usamos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B33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B33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melhor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B33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do mercado —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F2C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Legal One, INOV.AI,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1F2C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Oystr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B33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 Mas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B33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quando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B33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B33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operação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B33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B33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requer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B33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2B33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personalização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B33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o HIT.LAB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B33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constrói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B33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B33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Quatro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B33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B33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B33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proprietárias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B33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B33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integradas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B33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B33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ao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B33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Legal One,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B33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B33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B33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B33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B33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produção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B33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2628" y="5120640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635508" y="5376672"/>
            <a:ext cx="621792" cy="621792"/>
          </a:xfrm>
          <a:prstGeom prst="ellipse">
            <a:avLst/>
          </a:prstGeom>
          <a:solidFill>
            <a:srgbClr val="F4F2EE"/>
          </a:solidFill>
          <a:ln w="6350">
            <a:solidFill>
              <a:srgbClr val="E6E1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" y="5532120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67028" y="532180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C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DunaFlow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67028" y="56692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publicações e prazos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314700" y="5120640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3497580" y="5376672"/>
            <a:ext cx="621792" cy="621792"/>
          </a:xfrm>
          <a:prstGeom prst="ellipse">
            <a:avLst/>
          </a:prstGeom>
          <a:solidFill>
            <a:srgbClr val="F4F2EE"/>
          </a:solidFill>
          <a:ln w="6350">
            <a:solidFill>
              <a:srgbClr val="E6E1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3028" y="5532120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229100" y="532180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C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229100" y="56692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Peças e gestão documental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176772" y="5120640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5"/>
          <p:cNvSpPr/>
          <p:nvPr/>
        </p:nvSpPr>
        <p:spPr>
          <a:xfrm>
            <a:off x="6359652" y="5376672"/>
            <a:ext cx="621792" cy="621792"/>
          </a:xfrm>
          <a:prstGeom prst="ellipse">
            <a:avLst/>
          </a:prstGeom>
          <a:solidFill>
            <a:srgbClr val="F4F2EE"/>
          </a:solidFill>
          <a:ln w="6350">
            <a:solidFill>
              <a:srgbClr val="E6E1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0" y="5532120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091172" y="532180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F2C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Cadasr</a:t>
            </a:r>
            <a:endParaRPr lang="en-US" sz="1400" b="1" dirty="0">
              <a:solidFill>
                <a:srgbClr val="1F2C44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0" indent="0">
              <a:buNone/>
            </a:pPr>
            <a:r>
              <a:rPr lang="en-US" sz="1400" b="1" dirty="0" err="1">
                <a:solidFill>
                  <a:srgbClr val="1F2C44"/>
                </a:solidFill>
                <a:latin typeface="Montserrat" pitchFamily="34" charset="0"/>
              </a:rPr>
              <a:t>tro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7091172" y="56692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automatizado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9038844" y="5120640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19"/>
          <p:cNvSpPr/>
          <p:nvPr/>
        </p:nvSpPr>
        <p:spPr>
          <a:xfrm>
            <a:off x="9221724" y="5376672"/>
            <a:ext cx="621792" cy="621792"/>
          </a:xfrm>
          <a:prstGeom prst="ellipse">
            <a:avLst/>
          </a:prstGeom>
          <a:solidFill>
            <a:srgbClr val="F4F2EE"/>
          </a:solidFill>
          <a:ln w="6350">
            <a:solidFill>
              <a:srgbClr val="E6E1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7172" y="553212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953244" y="532180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C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NIC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9953244" y="56692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Conciliação + Omnichannel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10561320" y="2560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kern="0" spc="200" dirty="0">
                <a:solidFill>
                  <a:srgbClr val="1F2C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MDR</a:t>
            </a:r>
            <a:endParaRPr lang="en-US" sz="2600" dirty="0"/>
          </a:p>
        </p:txBody>
      </p:sp>
      <p:sp>
        <p:nvSpPr>
          <p:cNvPr id="29" name="Text 23"/>
          <p:cNvSpPr/>
          <p:nvPr/>
        </p:nvSpPr>
        <p:spPr>
          <a:xfrm>
            <a:off x="10561320" y="7132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1F2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ADVOCACIA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22960"/>
            <a:ext cx="457200" cy="36576"/>
          </a:xfrm>
          <a:prstGeom prst="rect">
            <a:avLst/>
          </a:prstGeom>
          <a:solidFill>
            <a:srgbClr val="C8AC7F"/>
          </a:solidFill>
          <a:ln w="12700">
            <a:solidFill>
              <a:srgbClr val="C8AC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097280" y="7315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0" dirty="0">
                <a:solidFill>
                  <a:srgbClr val="A38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PROPRIETÁRIAS  ·  EM PRODUÇÃO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F2C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QUATRO FRENTES EM PRODUÇÃO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7556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75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Construídas em casa, integradas ao Legal One.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5196" y="2286000"/>
            <a:ext cx="55778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25196" y="2286000"/>
            <a:ext cx="128016" cy="2103120"/>
          </a:xfrm>
          <a:prstGeom prst="rect">
            <a:avLst/>
          </a:prstGeom>
          <a:solidFill>
            <a:srgbClr val="1F2C44"/>
          </a:solidFill>
          <a:ln w="12700">
            <a:solidFill>
              <a:srgbClr val="1F2C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425196" y="4315968"/>
            <a:ext cx="128016" cy="73152"/>
          </a:xfrm>
          <a:prstGeom prst="rect">
            <a:avLst/>
          </a:prstGeom>
          <a:solidFill>
            <a:srgbClr val="C8AC7F"/>
          </a:solidFill>
          <a:ln w="12700">
            <a:solidFill>
              <a:srgbClr val="C8AC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745236" y="2606040"/>
            <a:ext cx="658368" cy="658368"/>
          </a:xfrm>
          <a:prstGeom prst="ellipse">
            <a:avLst/>
          </a:prstGeom>
          <a:solidFill>
            <a:srgbClr val="F4F2EE"/>
          </a:solidFill>
          <a:ln w="12700">
            <a:solidFill>
              <a:srgbClr val="C8AC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" y="2770632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22476" y="248716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300" dirty="0">
                <a:solidFill>
                  <a:srgbClr val="1F2C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DUNAFLOW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522476" y="285292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A3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publicações e gestão de prazos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1522476" y="3163824"/>
            <a:ext cx="4297680" cy="0"/>
          </a:xfrm>
          <a:prstGeom prst="line">
            <a:avLst/>
          </a:prstGeom>
          <a:noFill/>
          <a:ln w="6350">
            <a:solidFill>
              <a:srgbClr val="E6E1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1522476" y="3319272"/>
            <a:ext cx="54864" cy="54864"/>
          </a:xfrm>
          <a:prstGeom prst="ellipse">
            <a:avLst/>
          </a:prstGeom>
          <a:solidFill>
            <a:srgbClr val="A3875F"/>
          </a:solidFill>
          <a:ln w="12700">
            <a:solidFill>
              <a:srgbClr val="A387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1687068" y="3246120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 publicações do DJEN com IA em 28 fases processuais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522476" y="3611880"/>
            <a:ext cx="54864" cy="54864"/>
          </a:xfrm>
          <a:prstGeom prst="ellipse">
            <a:avLst/>
          </a:prstGeom>
          <a:solidFill>
            <a:srgbClr val="A3875F"/>
          </a:solidFill>
          <a:ln w="12700">
            <a:solidFill>
              <a:srgbClr val="A387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1687068" y="3538728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 prazos qualificados ao advogado certo no mesmo dia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522476" y="3904488"/>
            <a:ext cx="54864" cy="54864"/>
          </a:xfrm>
          <a:prstGeom prst="ellipse">
            <a:avLst/>
          </a:prstGeom>
          <a:solidFill>
            <a:srgbClr val="A3875F"/>
          </a:solidFill>
          <a:ln w="12700">
            <a:solidFill>
              <a:srgbClr val="A387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1687068" y="3831336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Régua de maturidade processual em 7 níveis, CNJ + DataJud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522476" y="4114800"/>
            <a:ext cx="4297680" cy="201168"/>
          </a:xfrm>
          <a:prstGeom prst="rect">
            <a:avLst/>
          </a:prstGeom>
          <a:solidFill>
            <a:srgbClr val="F4F2EE"/>
          </a:solidFill>
          <a:ln w="6350">
            <a:solidFill>
              <a:srgbClr val="E6E1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1522476" y="411480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2A3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· FastAPI · Playwright · Legal One API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185916" y="2286000"/>
            <a:ext cx="55778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20"/>
          <p:cNvSpPr/>
          <p:nvPr/>
        </p:nvSpPr>
        <p:spPr>
          <a:xfrm>
            <a:off x="6185916" y="2286000"/>
            <a:ext cx="128016" cy="2103120"/>
          </a:xfrm>
          <a:prstGeom prst="rect">
            <a:avLst/>
          </a:prstGeom>
          <a:solidFill>
            <a:srgbClr val="1F2C44"/>
          </a:solidFill>
          <a:ln w="12700">
            <a:solidFill>
              <a:srgbClr val="1F2C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1"/>
          <p:cNvSpPr/>
          <p:nvPr/>
        </p:nvSpPr>
        <p:spPr>
          <a:xfrm>
            <a:off x="6185916" y="4315968"/>
            <a:ext cx="128016" cy="73152"/>
          </a:xfrm>
          <a:prstGeom prst="rect">
            <a:avLst/>
          </a:prstGeom>
          <a:solidFill>
            <a:srgbClr val="C8AC7F"/>
          </a:solidFill>
          <a:ln w="12700">
            <a:solidFill>
              <a:srgbClr val="C8AC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2"/>
          <p:cNvSpPr/>
          <p:nvPr/>
        </p:nvSpPr>
        <p:spPr>
          <a:xfrm>
            <a:off x="6505956" y="2606040"/>
            <a:ext cx="658368" cy="658368"/>
          </a:xfrm>
          <a:prstGeom prst="ellipse">
            <a:avLst/>
          </a:prstGeom>
          <a:solidFill>
            <a:srgbClr val="F4F2EE"/>
          </a:solidFill>
          <a:ln w="12700">
            <a:solidFill>
              <a:srgbClr val="C8AC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0548" y="2770632"/>
            <a:ext cx="329184" cy="329184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283196" y="248716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300" dirty="0">
                <a:solidFill>
                  <a:srgbClr val="1F2C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</a:t>
            </a:r>
            <a:endParaRPr lang="en-US" sz="1700" dirty="0"/>
          </a:p>
        </p:txBody>
      </p:sp>
      <p:sp>
        <p:nvSpPr>
          <p:cNvPr id="28" name="Text 24"/>
          <p:cNvSpPr/>
          <p:nvPr/>
        </p:nvSpPr>
        <p:spPr>
          <a:xfrm>
            <a:off x="7283196" y="285292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A3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peças e gestão documental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7283196" y="3163824"/>
            <a:ext cx="4297680" cy="0"/>
          </a:xfrm>
          <a:prstGeom prst="line">
            <a:avLst/>
          </a:prstGeom>
          <a:noFill/>
          <a:ln w="6350">
            <a:solidFill>
              <a:srgbClr val="E6E1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6"/>
          <p:cNvSpPr/>
          <p:nvPr/>
        </p:nvSpPr>
        <p:spPr>
          <a:xfrm>
            <a:off x="7283196" y="3319272"/>
            <a:ext cx="54864" cy="54864"/>
          </a:xfrm>
          <a:prstGeom prst="ellipse">
            <a:avLst/>
          </a:prstGeom>
          <a:solidFill>
            <a:srgbClr val="A3875F"/>
          </a:solidFill>
          <a:ln w="12700">
            <a:solidFill>
              <a:srgbClr val="A387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7"/>
          <p:cNvSpPr/>
          <p:nvPr/>
        </p:nvSpPr>
        <p:spPr>
          <a:xfrm>
            <a:off x="7447788" y="3246120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Redação assistida de peças a partir de templates + dados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7283196" y="3611880"/>
            <a:ext cx="54864" cy="54864"/>
          </a:xfrm>
          <a:prstGeom prst="ellipse">
            <a:avLst/>
          </a:prstGeom>
          <a:solidFill>
            <a:srgbClr val="A3875F"/>
          </a:solidFill>
          <a:ln w="12700">
            <a:solidFill>
              <a:srgbClr val="A387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29"/>
          <p:cNvSpPr/>
          <p:nvPr/>
        </p:nvSpPr>
        <p:spPr>
          <a:xfrm>
            <a:off x="7447788" y="3538728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 de partes, valores e fundamentos de documentos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7283196" y="3904488"/>
            <a:ext cx="54864" cy="54864"/>
          </a:xfrm>
          <a:prstGeom prst="ellipse">
            <a:avLst/>
          </a:prstGeom>
          <a:solidFill>
            <a:srgbClr val="A3875F"/>
          </a:solidFill>
          <a:ln w="12700">
            <a:solidFill>
              <a:srgbClr val="A387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1"/>
          <p:cNvSpPr/>
          <p:nvPr/>
        </p:nvSpPr>
        <p:spPr>
          <a:xfrm>
            <a:off x="7447788" y="3831336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semântica, versionamento e rastreabilidade central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7283196" y="4114800"/>
            <a:ext cx="4297680" cy="201168"/>
          </a:xfrm>
          <a:prstGeom prst="rect">
            <a:avLst/>
          </a:prstGeom>
          <a:solidFill>
            <a:srgbClr val="F4F2EE"/>
          </a:solidFill>
          <a:ln w="6350">
            <a:solidFill>
              <a:srgbClr val="E6E1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3"/>
          <p:cNvSpPr/>
          <p:nvPr/>
        </p:nvSpPr>
        <p:spPr>
          <a:xfrm>
            <a:off x="7283196" y="411480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2A3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· Vector DB · Templates jurídicos</a:t>
            </a:r>
            <a:endParaRPr lang="en-US" sz="850" dirty="0"/>
          </a:p>
        </p:txBody>
      </p:sp>
      <p:sp>
        <p:nvSpPr>
          <p:cNvPr id="38" name="Shape 34"/>
          <p:cNvSpPr/>
          <p:nvPr/>
        </p:nvSpPr>
        <p:spPr>
          <a:xfrm>
            <a:off x="425196" y="4572000"/>
            <a:ext cx="55778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9" name="Shape 35"/>
          <p:cNvSpPr/>
          <p:nvPr/>
        </p:nvSpPr>
        <p:spPr>
          <a:xfrm>
            <a:off x="425196" y="4572000"/>
            <a:ext cx="128016" cy="2103120"/>
          </a:xfrm>
          <a:prstGeom prst="rect">
            <a:avLst/>
          </a:prstGeom>
          <a:solidFill>
            <a:srgbClr val="1F2C44"/>
          </a:solidFill>
          <a:ln w="12700">
            <a:solidFill>
              <a:srgbClr val="1F2C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Shape 36"/>
          <p:cNvSpPr/>
          <p:nvPr/>
        </p:nvSpPr>
        <p:spPr>
          <a:xfrm>
            <a:off x="425196" y="6601968"/>
            <a:ext cx="128016" cy="73152"/>
          </a:xfrm>
          <a:prstGeom prst="rect">
            <a:avLst/>
          </a:prstGeom>
          <a:solidFill>
            <a:srgbClr val="C8AC7F"/>
          </a:solidFill>
          <a:ln w="12700">
            <a:solidFill>
              <a:srgbClr val="C8AC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Shape 37"/>
          <p:cNvSpPr/>
          <p:nvPr/>
        </p:nvSpPr>
        <p:spPr>
          <a:xfrm>
            <a:off x="745236" y="4892040"/>
            <a:ext cx="658368" cy="658368"/>
          </a:xfrm>
          <a:prstGeom prst="ellipse">
            <a:avLst/>
          </a:prstGeom>
          <a:solidFill>
            <a:srgbClr val="F4F2EE"/>
          </a:solidFill>
          <a:ln w="12700">
            <a:solidFill>
              <a:srgbClr val="C8AC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828" y="5056632"/>
            <a:ext cx="329184" cy="329184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1522476" y="477316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300" dirty="0">
                <a:solidFill>
                  <a:srgbClr val="1F2C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AJUS-LEGALONE</a:t>
            </a:r>
            <a:endParaRPr lang="en-US" sz="1700" dirty="0"/>
          </a:p>
        </p:txBody>
      </p:sp>
      <p:sp>
        <p:nvSpPr>
          <p:cNvPr id="44" name="Text 39"/>
          <p:cNvSpPr/>
          <p:nvPr/>
        </p:nvSpPr>
        <p:spPr>
          <a:xfrm>
            <a:off x="1522476" y="513892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A3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automatizado de novos processos</a:t>
            </a:r>
            <a:endParaRPr lang="en-US" sz="1050" dirty="0"/>
          </a:p>
        </p:txBody>
      </p:sp>
      <p:sp>
        <p:nvSpPr>
          <p:cNvPr id="45" name="Shape 40"/>
          <p:cNvSpPr/>
          <p:nvPr/>
        </p:nvSpPr>
        <p:spPr>
          <a:xfrm>
            <a:off x="1522476" y="5449824"/>
            <a:ext cx="4297680" cy="0"/>
          </a:xfrm>
          <a:prstGeom prst="line">
            <a:avLst/>
          </a:prstGeom>
          <a:noFill/>
          <a:ln w="6350">
            <a:solidFill>
              <a:srgbClr val="E6E1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Shape 41"/>
          <p:cNvSpPr/>
          <p:nvPr/>
        </p:nvSpPr>
        <p:spPr>
          <a:xfrm>
            <a:off x="1522476" y="5605272"/>
            <a:ext cx="54864" cy="54864"/>
          </a:xfrm>
          <a:prstGeom prst="ellipse">
            <a:avLst/>
          </a:prstGeom>
          <a:solidFill>
            <a:srgbClr val="A3875F"/>
          </a:solidFill>
          <a:ln w="12700">
            <a:solidFill>
              <a:srgbClr val="A387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42"/>
          <p:cNvSpPr/>
          <p:nvPr/>
        </p:nvSpPr>
        <p:spPr>
          <a:xfrm>
            <a:off x="1687068" y="5532120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processo novo do portal do cliente ou de planilha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1522476" y="5897880"/>
            <a:ext cx="54864" cy="54864"/>
          </a:xfrm>
          <a:prstGeom prst="ellipse">
            <a:avLst/>
          </a:prstGeom>
          <a:solidFill>
            <a:srgbClr val="A3875F"/>
          </a:solidFill>
          <a:ln w="12700">
            <a:solidFill>
              <a:srgbClr val="A387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Text 44"/>
          <p:cNvSpPr/>
          <p:nvPr/>
        </p:nvSpPr>
        <p:spPr>
          <a:xfrm>
            <a:off x="1687068" y="5824728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 no Legal One com dados completos: partes, valores, comarca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1522476" y="6190488"/>
            <a:ext cx="54864" cy="54864"/>
          </a:xfrm>
          <a:prstGeom prst="ellipse">
            <a:avLst/>
          </a:prstGeom>
          <a:solidFill>
            <a:srgbClr val="A3875F"/>
          </a:solidFill>
          <a:ln w="12700">
            <a:solidFill>
              <a:srgbClr val="A387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Text 46"/>
          <p:cNvSpPr/>
          <p:nvPr/>
        </p:nvSpPr>
        <p:spPr>
          <a:xfrm>
            <a:off x="1687068" y="6117336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natureza, contingência e área antes de salvar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1522476" y="6400800"/>
            <a:ext cx="4297680" cy="201168"/>
          </a:xfrm>
          <a:prstGeom prst="rect">
            <a:avLst/>
          </a:prstGeom>
          <a:solidFill>
            <a:srgbClr val="F4F2EE"/>
          </a:solidFill>
          <a:ln w="6350">
            <a:solidFill>
              <a:srgbClr val="E6E1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Text 48"/>
          <p:cNvSpPr/>
          <p:nvPr/>
        </p:nvSpPr>
        <p:spPr>
          <a:xfrm>
            <a:off x="1522476" y="640080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2A3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 · Playwright · Legal One API</a:t>
            </a:r>
            <a:endParaRPr lang="en-US" sz="850" dirty="0"/>
          </a:p>
        </p:txBody>
      </p:sp>
      <p:sp>
        <p:nvSpPr>
          <p:cNvPr id="54" name="Shape 49"/>
          <p:cNvSpPr/>
          <p:nvPr/>
        </p:nvSpPr>
        <p:spPr>
          <a:xfrm>
            <a:off x="6185916" y="4572000"/>
            <a:ext cx="55778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5" name="Shape 50"/>
          <p:cNvSpPr/>
          <p:nvPr/>
        </p:nvSpPr>
        <p:spPr>
          <a:xfrm>
            <a:off x="6185916" y="4572000"/>
            <a:ext cx="128016" cy="2103120"/>
          </a:xfrm>
          <a:prstGeom prst="rect">
            <a:avLst/>
          </a:prstGeom>
          <a:solidFill>
            <a:srgbClr val="1F2C44"/>
          </a:solidFill>
          <a:ln w="12700">
            <a:solidFill>
              <a:srgbClr val="1F2C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Shape 51"/>
          <p:cNvSpPr/>
          <p:nvPr/>
        </p:nvSpPr>
        <p:spPr>
          <a:xfrm>
            <a:off x="6185916" y="6601968"/>
            <a:ext cx="128016" cy="73152"/>
          </a:xfrm>
          <a:prstGeom prst="rect">
            <a:avLst/>
          </a:prstGeom>
          <a:solidFill>
            <a:srgbClr val="C8AC7F"/>
          </a:solidFill>
          <a:ln w="12700">
            <a:solidFill>
              <a:srgbClr val="C8AC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7" name="Shape 52"/>
          <p:cNvSpPr/>
          <p:nvPr/>
        </p:nvSpPr>
        <p:spPr>
          <a:xfrm>
            <a:off x="6505956" y="4892040"/>
            <a:ext cx="658368" cy="658368"/>
          </a:xfrm>
          <a:prstGeom prst="ellipse">
            <a:avLst/>
          </a:prstGeom>
          <a:solidFill>
            <a:srgbClr val="F4F2EE"/>
          </a:solidFill>
          <a:ln w="12700">
            <a:solidFill>
              <a:srgbClr val="C8AC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8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0548" y="5056632"/>
            <a:ext cx="329184" cy="329184"/>
          </a:xfrm>
          <a:prstGeom prst="rect">
            <a:avLst/>
          </a:prstGeom>
        </p:spPr>
      </p:pic>
      <p:sp>
        <p:nvSpPr>
          <p:cNvPr id="59" name="Text 53"/>
          <p:cNvSpPr/>
          <p:nvPr/>
        </p:nvSpPr>
        <p:spPr>
          <a:xfrm>
            <a:off x="7283196" y="477316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300" dirty="0">
                <a:solidFill>
                  <a:srgbClr val="1F2C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NIC</a:t>
            </a:r>
            <a:endParaRPr lang="en-US" sz="1700" dirty="0"/>
          </a:p>
        </p:txBody>
      </p:sp>
      <p:sp>
        <p:nvSpPr>
          <p:cNvPr id="60" name="Text 54"/>
          <p:cNvSpPr/>
          <p:nvPr/>
        </p:nvSpPr>
        <p:spPr>
          <a:xfrm>
            <a:off x="7283196" y="513892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A3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Integrado de Conciliações</a:t>
            </a:r>
            <a:endParaRPr lang="en-US" sz="1050" dirty="0"/>
          </a:p>
        </p:txBody>
      </p:sp>
      <p:sp>
        <p:nvSpPr>
          <p:cNvPr id="61" name="Shape 55"/>
          <p:cNvSpPr/>
          <p:nvPr/>
        </p:nvSpPr>
        <p:spPr>
          <a:xfrm>
            <a:off x="7283196" y="5449824"/>
            <a:ext cx="4297680" cy="0"/>
          </a:xfrm>
          <a:prstGeom prst="line">
            <a:avLst/>
          </a:prstGeom>
          <a:noFill/>
          <a:ln w="6350">
            <a:solidFill>
              <a:srgbClr val="E6E1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2" name="Shape 56"/>
          <p:cNvSpPr/>
          <p:nvPr/>
        </p:nvSpPr>
        <p:spPr>
          <a:xfrm>
            <a:off x="7283196" y="5605272"/>
            <a:ext cx="54864" cy="54864"/>
          </a:xfrm>
          <a:prstGeom prst="ellipse">
            <a:avLst/>
          </a:prstGeom>
          <a:solidFill>
            <a:srgbClr val="A3875F"/>
          </a:solidFill>
          <a:ln w="12700">
            <a:solidFill>
              <a:srgbClr val="A387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3" name="Text 57"/>
          <p:cNvSpPr/>
          <p:nvPr/>
        </p:nvSpPr>
        <p:spPr>
          <a:xfrm>
            <a:off x="7447788" y="5532120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 WhatsApp oficial (Meta) com Chatwoot como base operacional</a:t>
            </a:r>
            <a:endParaRPr lang="en-US" sz="1000" dirty="0"/>
          </a:p>
        </p:txBody>
      </p:sp>
      <p:sp>
        <p:nvSpPr>
          <p:cNvPr id="64" name="Shape 58"/>
          <p:cNvSpPr/>
          <p:nvPr/>
        </p:nvSpPr>
        <p:spPr>
          <a:xfrm>
            <a:off x="7283196" y="5897880"/>
            <a:ext cx="54864" cy="54864"/>
          </a:xfrm>
          <a:prstGeom prst="ellipse">
            <a:avLst/>
          </a:prstGeom>
          <a:solidFill>
            <a:srgbClr val="A3875F"/>
          </a:solidFill>
          <a:ln w="12700">
            <a:solidFill>
              <a:srgbClr val="A387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5" name="Text 59"/>
          <p:cNvSpPr/>
          <p:nvPr/>
        </p:nvSpPr>
        <p:spPr>
          <a:xfrm>
            <a:off x="7447788" y="5824728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Kanban de acordos e geração automática de minutas</a:t>
            </a:r>
            <a:endParaRPr lang="en-US" sz="1000" dirty="0"/>
          </a:p>
        </p:txBody>
      </p:sp>
      <p:sp>
        <p:nvSpPr>
          <p:cNvPr id="66" name="Shape 60"/>
          <p:cNvSpPr/>
          <p:nvPr/>
        </p:nvSpPr>
        <p:spPr>
          <a:xfrm>
            <a:off x="7283196" y="6190488"/>
            <a:ext cx="54864" cy="54864"/>
          </a:xfrm>
          <a:prstGeom prst="ellipse">
            <a:avLst/>
          </a:prstGeom>
          <a:solidFill>
            <a:srgbClr val="A3875F"/>
          </a:solidFill>
          <a:ln w="12700">
            <a:solidFill>
              <a:srgbClr val="A387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7" name="Text 61"/>
          <p:cNvSpPr/>
          <p:nvPr/>
        </p:nvSpPr>
        <p:spPr>
          <a:xfrm>
            <a:off x="7447788" y="6117336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Vínculo conversa ↔ processo com histórico auditado</a:t>
            </a:r>
            <a:endParaRPr lang="en-US" sz="1000" dirty="0"/>
          </a:p>
        </p:txBody>
      </p:sp>
      <p:sp>
        <p:nvSpPr>
          <p:cNvPr id="68" name="Shape 62"/>
          <p:cNvSpPr/>
          <p:nvPr/>
        </p:nvSpPr>
        <p:spPr>
          <a:xfrm>
            <a:off x="7283196" y="6400800"/>
            <a:ext cx="4297680" cy="201168"/>
          </a:xfrm>
          <a:prstGeom prst="rect">
            <a:avLst/>
          </a:prstGeom>
          <a:solidFill>
            <a:srgbClr val="F4F2EE"/>
          </a:solidFill>
          <a:ln w="6350">
            <a:solidFill>
              <a:srgbClr val="E6E1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9" name="Text 63"/>
          <p:cNvSpPr/>
          <p:nvPr/>
        </p:nvSpPr>
        <p:spPr>
          <a:xfrm>
            <a:off x="7283196" y="640080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2A3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Laravel · Chatwoot · Meta WhatsApp</a:t>
            </a:r>
            <a:endParaRPr lang="en-US" sz="850" dirty="0"/>
          </a:p>
        </p:txBody>
      </p:sp>
      <p:sp>
        <p:nvSpPr>
          <p:cNvPr id="70" name="Text 64"/>
          <p:cNvSpPr/>
          <p:nvPr/>
        </p:nvSpPr>
        <p:spPr>
          <a:xfrm>
            <a:off x="10561320" y="2560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kern="0" spc="200" dirty="0">
                <a:solidFill>
                  <a:srgbClr val="1F2C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MDR</a:t>
            </a:r>
            <a:endParaRPr lang="en-US" sz="2600" dirty="0"/>
          </a:p>
        </p:txBody>
      </p:sp>
      <p:sp>
        <p:nvSpPr>
          <p:cNvPr id="71" name="Text 65"/>
          <p:cNvSpPr/>
          <p:nvPr/>
        </p:nvSpPr>
        <p:spPr>
          <a:xfrm>
            <a:off x="10561320" y="7132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1F2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ADVOCACIA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22960"/>
            <a:ext cx="457200" cy="36576"/>
          </a:xfrm>
          <a:prstGeom prst="rect">
            <a:avLst/>
          </a:prstGeom>
          <a:solidFill>
            <a:srgbClr val="C8AC7F"/>
          </a:solidFill>
          <a:ln w="12700">
            <a:solidFill>
              <a:srgbClr val="C8AC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097280" y="7315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0" dirty="0">
                <a:solidFill>
                  <a:srgbClr val="A38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CONSTRUIR EM CASA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F2C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ESSA CAMADA ENTREGA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7556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75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Ganhos que ferramentas de mercado sozinhas não dão.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39496" y="233172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39496" y="2331720"/>
            <a:ext cx="91440" cy="1920240"/>
          </a:xfrm>
          <a:prstGeom prst="rect">
            <a:avLst/>
          </a:prstGeom>
          <a:solidFill>
            <a:srgbClr val="1F2C44"/>
          </a:solidFill>
          <a:ln w="12700">
            <a:solidFill>
              <a:srgbClr val="1F2C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859536" y="2651760"/>
            <a:ext cx="640080" cy="640080"/>
          </a:xfrm>
          <a:prstGeom prst="ellipse">
            <a:avLst/>
          </a:prstGeom>
          <a:solidFill>
            <a:srgbClr val="F4F2EE"/>
          </a:solidFill>
          <a:ln w="12700">
            <a:solidFill>
              <a:srgbClr val="C8AC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280720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36776" y="262432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500" dirty="0">
                <a:solidFill>
                  <a:srgbClr val="1F2C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AUTONOMIA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1636776" y="3063240"/>
            <a:ext cx="548640" cy="32004"/>
          </a:xfrm>
          <a:prstGeom prst="rect">
            <a:avLst/>
          </a:prstGeom>
          <a:solidFill>
            <a:srgbClr val="C8AC7F"/>
          </a:solidFill>
          <a:ln w="12700">
            <a:solidFill>
              <a:srgbClr val="C8AC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1636776" y="3172968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dependemos de roadmap externo para o que é core da operação. O que a carteira precisa, construímos e colocamos em produção — em sprints do HIT.LAB, não em releases de fornecedor.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54496" y="233172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6254496" y="2331720"/>
            <a:ext cx="91440" cy="1920240"/>
          </a:xfrm>
          <a:prstGeom prst="rect">
            <a:avLst/>
          </a:prstGeom>
          <a:solidFill>
            <a:srgbClr val="1F2C44"/>
          </a:solidFill>
          <a:ln w="12700">
            <a:solidFill>
              <a:srgbClr val="1F2C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6574536" y="2651760"/>
            <a:ext cx="640080" cy="640080"/>
          </a:xfrm>
          <a:prstGeom prst="ellipse">
            <a:avLst/>
          </a:prstGeom>
          <a:solidFill>
            <a:srgbClr val="F4F2EE"/>
          </a:solidFill>
          <a:ln w="12700">
            <a:solidFill>
              <a:srgbClr val="C8AC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984" y="2807208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351776" y="262432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500" dirty="0">
                <a:solidFill>
                  <a:srgbClr val="1F2C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VELOCIDADE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7351776" y="3063240"/>
            <a:ext cx="548640" cy="32004"/>
          </a:xfrm>
          <a:prstGeom prst="rect">
            <a:avLst/>
          </a:prstGeom>
          <a:solidFill>
            <a:srgbClr val="C8AC7F"/>
          </a:solidFill>
          <a:ln w="12700">
            <a:solidFill>
              <a:srgbClr val="C8AC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5"/>
          <p:cNvSpPr/>
          <p:nvPr/>
        </p:nvSpPr>
        <p:spPr>
          <a:xfrm>
            <a:off x="7351776" y="3172968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manual ao mesmo dia: publicações lidas e distribuídas, processos cadastrados e peças geradas em horas, não em dias. A operação passa a responder no ritmo do cliente.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39496" y="448056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7"/>
          <p:cNvSpPr/>
          <p:nvPr/>
        </p:nvSpPr>
        <p:spPr>
          <a:xfrm>
            <a:off x="539496" y="4480560"/>
            <a:ext cx="91440" cy="1920240"/>
          </a:xfrm>
          <a:prstGeom prst="rect">
            <a:avLst/>
          </a:prstGeom>
          <a:solidFill>
            <a:srgbClr val="1F2C44"/>
          </a:solidFill>
          <a:ln w="12700">
            <a:solidFill>
              <a:srgbClr val="1F2C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18"/>
          <p:cNvSpPr/>
          <p:nvPr/>
        </p:nvSpPr>
        <p:spPr>
          <a:xfrm>
            <a:off x="859536" y="4800600"/>
            <a:ext cx="640080" cy="640080"/>
          </a:xfrm>
          <a:prstGeom prst="ellipse">
            <a:avLst/>
          </a:prstGeom>
          <a:solidFill>
            <a:srgbClr val="F4F2EE"/>
          </a:solidFill>
          <a:ln w="12700">
            <a:solidFill>
              <a:srgbClr val="C8AC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4956048"/>
            <a:ext cx="329184" cy="32918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636776" y="477316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500" dirty="0">
                <a:solidFill>
                  <a:srgbClr val="1F2C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PRECISÃO</a:t>
            </a:r>
            <a:endParaRPr lang="en-US" sz="1700" dirty="0"/>
          </a:p>
        </p:txBody>
      </p:sp>
      <p:sp>
        <p:nvSpPr>
          <p:cNvPr id="25" name="Shape 20"/>
          <p:cNvSpPr/>
          <p:nvPr/>
        </p:nvSpPr>
        <p:spPr>
          <a:xfrm>
            <a:off x="1636776" y="5212080"/>
            <a:ext cx="548640" cy="32004"/>
          </a:xfrm>
          <a:prstGeom prst="rect">
            <a:avLst/>
          </a:prstGeom>
          <a:solidFill>
            <a:srgbClr val="C8AC7F"/>
          </a:solidFill>
          <a:ln w="12700">
            <a:solidFill>
              <a:srgbClr val="C8AC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1"/>
          <p:cNvSpPr/>
          <p:nvPr/>
        </p:nvSpPr>
        <p:spPr>
          <a:xfrm>
            <a:off x="1636776" y="5321808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com revisão humana (HITL) onde importa. Rastreabilidade em todas as etapas e auditoria completa — nada é feito sem deixar registro e responsável.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254496" y="448056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Shape 23"/>
          <p:cNvSpPr/>
          <p:nvPr/>
        </p:nvSpPr>
        <p:spPr>
          <a:xfrm>
            <a:off x="6254496" y="4480560"/>
            <a:ext cx="91440" cy="1920240"/>
          </a:xfrm>
          <a:prstGeom prst="rect">
            <a:avLst/>
          </a:prstGeom>
          <a:solidFill>
            <a:srgbClr val="1F2C44"/>
          </a:solidFill>
          <a:ln w="12700">
            <a:solidFill>
              <a:srgbClr val="1F2C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4"/>
          <p:cNvSpPr/>
          <p:nvPr/>
        </p:nvSpPr>
        <p:spPr>
          <a:xfrm>
            <a:off x="6574536" y="4800600"/>
            <a:ext cx="640080" cy="640080"/>
          </a:xfrm>
          <a:prstGeom prst="ellipse">
            <a:avLst/>
          </a:prstGeom>
          <a:solidFill>
            <a:srgbClr val="F4F2EE"/>
          </a:solidFill>
          <a:ln w="12700">
            <a:solidFill>
              <a:srgbClr val="C8AC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9984" y="4956048"/>
            <a:ext cx="329184" cy="32918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351776" y="477316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500" dirty="0">
                <a:solidFill>
                  <a:srgbClr val="1F2C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ESCALA</a:t>
            </a:r>
            <a:endParaRPr lang="en-US" sz="1700" dirty="0"/>
          </a:p>
        </p:txBody>
      </p:sp>
      <p:sp>
        <p:nvSpPr>
          <p:cNvPr id="32" name="Shape 26"/>
          <p:cNvSpPr/>
          <p:nvPr/>
        </p:nvSpPr>
        <p:spPr>
          <a:xfrm>
            <a:off x="7351776" y="5212080"/>
            <a:ext cx="548640" cy="32004"/>
          </a:xfrm>
          <a:prstGeom prst="rect">
            <a:avLst/>
          </a:prstGeom>
          <a:solidFill>
            <a:srgbClr val="C8AC7F"/>
          </a:solidFill>
          <a:ln w="12700">
            <a:solidFill>
              <a:srgbClr val="C8AC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27"/>
          <p:cNvSpPr/>
          <p:nvPr/>
        </p:nvSpPr>
        <p:spPr>
          <a:xfrm>
            <a:off x="7351776" y="5321808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equipe dá conta de um volume muito maior. O crescimento da carteira não puxa linearmente o tamanho do time — a capacidade escala com tecnologia, não com headcount.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502920" y="6446520"/>
            <a:ext cx="11201400" cy="274320"/>
          </a:xfrm>
          <a:prstGeom prst="rect">
            <a:avLst/>
          </a:prstGeom>
          <a:solidFill>
            <a:srgbClr val="1F2C44"/>
          </a:solidFill>
          <a:ln w="12700">
            <a:solidFill>
              <a:srgbClr val="1F2C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29"/>
          <p:cNvSpPr/>
          <p:nvPr/>
        </p:nvSpPr>
        <p:spPr>
          <a:xfrm>
            <a:off x="502920" y="6446520"/>
            <a:ext cx="1828800" cy="274320"/>
          </a:xfrm>
          <a:prstGeom prst="rect">
            <a:avLst/>
          </a:prstGeom>
          <a:solidFill>
            <a:srgbClr val="C8AC7F"/>
          </a:solidFill>
          <a:ln w="12700">
            <a:solidFill>
              <a:srgbClr val="C8AC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0"/>
          <p:cNvSpPr/>
          <p:nvPr/>
        </p:nvSpPr>
        <p:spPr>
          <a:xfrm>
            <a:off x="502920" y="644652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 AO LEGAL ONE  ·  HOJE EM PRODUÇÃO NO HIT.LAB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10561320" y="2560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kern="0" spc="200" dirty="0">
                <a:solidFill>
                  <a:srgbClr val="1F2C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MDR</a:t>
            </a:r>
            <a:endParaRPr lang="en-US" sz="2600" dirty="0"/>
          </a:p>
        </p:txBody>
      </p:sp>
      <p:sp>
        <p:nvSpPr>
          <p:cNvPr id="38" name="Text 32"/>
          <p:cNvSpPr/>
          <p:nvPr/>
        </p:nvSpPr>
        <p:spPr>
          <a:xfrm>
            <a:off x="10561320" y="7132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1F2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ADVOCACIA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448</Words>
  <Application>Microsoft Office PowerPoint</Application>
  <PresentationFormat>Widescreen</PresentationFormat>
  <Paragraphs>62</Paragraphs>
  <Slides>3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Calibri</vt:lpstr>
      <vt:lpstr>Montserrat</vt:lpstr>
      <vt:lpstr>Office Theme</vt:lpstr>
      <vt:lpstr>Apresentação do PowerPoint</vt:lpstr>
      <vt:lpstr>Apresentação do PowerPoint</vt:lpstr>
      <vt:lpstr>Apresentação do PowerPoint</vt:lpstr>
    </vt:vector>
  </TitlesOfParts>
  <Company>MDR Advocacia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LegalOps próprios — slides 1 e 2 atualizados (+ NIC)</dc:title>
  <dc:subject>PptxGenJS Presentation</dc:subject>
  <dc:creator>MDR Advocacia — HIT.LAB</dc:creator>
  <cp:lastModifiedBy>Jonilson Vilela</cp:lastModifiedBy>
  <cp:revision>2</cp:revision>
  <dcterms:created xsi:type="dcterms:W3CDTF">2026-04-23T14:21:48Z</dcterms:created>
  <dcterms:modified xsi:type="dcterms:W3CDTF">2026-04-23T14:25:40Z</dcterms:modified>
</cp:coreProperties>
</file>