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9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7BFF"/>
          </a:solidFill>
          <a:ln w="12700">
            <a:solidFill>
              <a:srgbClr val="1E7B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-1828800"/>
            <a:ext cx="5943600" cy="5943600"/>
          </a:xfrm>
          <a:prstGeom prst="oval">
            <a:avLst/>
          </a:prstGeom>
          <a:solidFill>
            <a:srgbClr val="0A1940">
              <a:alpha val="45000"/>
            </a:srgbClr>
          </a:solidFill>
          <a:ln w="12700">
            <a:solidFill>
              <a:srgbClr val="0A194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9520" y="3474720"/>
            <a:ext cx="5029200" cy="5029200"/>
          </a:xfrm>
          <a:prstGeom prst="oval">
            <a:avLst/>
          </a:prstGeom>
          <a:solidFill>
            <a:srgbClr val="0B7A79">
              <a:alpha val="25000"/>
            </a:srgbClr>
          </a:solidFill>
          <a:ln w="12700">
            <a:solidFill>
              <a:srgbClr val="0B7A79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731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1E7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MDR ADVOCACIA  ·  PLATAFORMA INTERNA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1051560"/>
            <a:ext cx="10515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Duna</a:t>
            </a:r>
            <a:pPr indent="0" marL="0">
              <a:buNone/>
            </a:pPr>
            <a:r>
              <a:rPr lang="en-US" sz="11000" b="1" i="1" dirty="0">
                <a:solidFill>
                  <a:srgbClr val="1E7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1000" dirty="0"/>
          </a:p>
        </p:txBody>
      </p:sp>
      <p:sp>
        <p:nvSpPr>
          <p:cNvPr id="7" name="Text 5"/>
          <p:cNvSpPr/>
          <p:nvPr/>
        </p:nvSpPr>
        <p:spPr>
          <a:xfrm>
            <a:off x="822960" y="2606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800" kern="0" dirty="0">
                <a:solidFill>
                  <a:srgbClr val="1E7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DUNATECH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30175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DCE6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Orquestração jurídica inteligente sobre o Legal One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22960" y="3703320"/>
            <a:ext cx="914400" cy="36576"/>
          </a:xfrm>
          <a:prstGeom prst="rect">
            <a:avLst/>
          </a:prstGeom>
          <a:solidFill>
            <a:srgbClr val="1E7BFF"/>
          </a:solidFill>
          <a:ln w="12700">
            <a:solidFill>
              <a:srgbClr val="1E7BFF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151376"/>
            <a:ext cx="256032" cy="25603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18872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a fluxos jurídicos</a:t>
            </a:r>
            <a:endParaRPr lang="en-US" sz="15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654296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188720" y="4617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RPA + automações agendadas</a:t>
            </a:r>
            <a:endParaRPr lang="en-US" sz="15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5157216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188720" y="5120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Monitoramento processual maduro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82296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1E7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Abril · 2026   ·   v1.4</a:t>
            </a:r>
            <a:endParaRPr lang="en-US" sz="1100" dirty="0"/>
          </a:p>
        </p:txBody>
      </p:sp>
      <p:sp>
        <p:nvSpPr>
          <p:cNvPr id="17" name="Text 12"/>
          <p:cNvSpPr/>
          <p:nvPr/>
        </p:nvSpPr>
        <p:spPr>
          <a:xfrm>
            <a:off x="82296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9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 da plataforma · audiência interna e externa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55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PONTO DE PARTIDA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43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9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trabalho jurídico não cabe mais no manual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53312"/>
            <a:ext cx="548640" cy="54864"/>
          </a:xfrm>
          <a:prstGeom prst="rect">
            <a:avLst/>
          </a:prstGeom>
          <a:solidFill>
            <a:srgbClr val="1E7BFF"/>
          </a:solidFill>
          <a:ln w="12700">
            <a:solidFill>
              <a:srgbClr val="1E7B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737360"/>
            <a:ext cx="53035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dia útil, um escritório de porte recebe centenas de publicações, movimentações e intimações. Triagem, classificação, cadastro e acompanhamento consomem horas dos times jurídico e administrativo — e, pior, o que escapa vira risco.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4114800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A19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DunaFlow nasceu para absorver esse peso operacional, devolver tempo aos advogados e transformar dados brutos do Legal One em decisões acionáveis.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126480" y="1737360"/>
            <a:ext cx="54864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126480" y="1737360"/>
            <a:ext cx="73152" cy="914400"/>
          </a:xfrm>
          <a:prstGeom prst="rect">
            <a:avLst/>
          </a:prstGeom>
          <a:solidFill>
            <a:srgbClr val="D65A4B"/>
          </a:solidFill>
          <a:ln w="12700">
            <a:solidFill>
              <a:srgbClr val="D65A4B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874520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812280" y="182880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Publicações sem pasta ficam órfãs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812280" y="21488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de perder prazo em processos que o escritório já conhece.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26480" y="2743200"/>
            <a:ext cx="54864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126480" y="2743200"/>
            <a:ext cx="73152" cy="914400"/>
          </a:xfrm>
          <a:prstGeom prst="rect">
            <a:avLst/>
          </a:prstGeom>
          <a:solidFill>
            <a:srgbClr val="D65A4B"/>
          </a:solidFill>
          <a:ln w="12700">
            <a:solidFill>
              <a:srgbClr val="D65A4B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880360"/>
            <a:ext cx="320040" cy="32004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812280" y="28346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Triagem manual não escala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6812280" y="31546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nova demanda briga por atenção humana escassa.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126480" y="3749040"/>
            <a:ext cx="54864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126480" y="3749040"/>
            <a:ext cx="73152" cy="914400"/>
          </a:xfrm>
          <a:prstGeom prst="rect">
            <a:avLst/>
          </a:prstGeom>
          <a:solidFill>
            <a:srgbClr val="D65A4B"/>
          </a:solidFill>
          <a:ln w="12700">
            <a:solidFill>
              <a:srgbClr val="D65A4B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3886200"/>
            <a:ext cx="320040" cy="32004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812280" y="38404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Cadastros se desencontram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6812280" y="41605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Processos com partes, classes e assuntos incompletos ou inconsistentes.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6126480" y="4754880"/>
            <a:ext cx="54864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126480" y="4754880"/>
            <a:ext cx="73152" cy="914400"/>
          </a:xfrm>
          <a:prstGeom prst="rect">
            <a:avLst/>
          </a:prstGeom>
          <a:solidFill>
            <a:srgbClr val="D65A4B"/>
          </a:solidFill>
          <a:ln w="12700">
            <a:solidFill>
              <a:srgbClr val="D65A4B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4892040"/>
            <a:ext cx="320040" cy="32004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812280" y="484632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Automatizações soltas</a:t>
            </a:r>
            <a:endParaRPr lang="en-US" sz="1400" dirty="0"/>
          </a:p>
        </p:txBody>
      </p:sp>
      <p:sp>
        <p:nvSpPr>
          <p:cNvPr id="26" name="Text 20"/>
          <p:cNvSpPr/>
          <p:nvPr/>
        </p:nvSpPr>
        <p:spPr>
          <a:xfrm>
            <a:off x="6812280" y="516636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 avulsos, sem orquestração, sem histórico, sem dono.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548640" y="6537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548640" y="6583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DunaFlow · MDR Advocacia</a:t>
            </a:r>
            <a:endParaRPr lang="en-US" sz="900" dirty="0"/>
          </a:p>
        </p:txBody>
      </p:sp>
      <p:sp>
        <p:nvSpPr>
          <p:cNvPr id="29" name="Text 23"/>
          <p:cNvSpPr/>
          <p:nvPr/>
        </p:nvSpPr>
        <p:spPr>
          <a:xfrm>
            <a:off x="10149840" y="65836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55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43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9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DunaFlow em uma frase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53312"/>
            <a:ext cx="548640" cy="54864"/>
          </a:xfrm>
          <a:prstGeom prst="rect">
            <a:avLst/>
          </a:prstGeom>
          <a:solidFill>
            <a:srgbClr val="1E7BFF"/>
          </a:solidFill>
          <a:ln w="12700">
            <a:solidFill>
              <a:srgbClr val="1E7B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37360"/>
            <a:ext cx="1106424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737360"/>
            <a:ext cx="73152" cy="2103120"/>
          </a:xfrm>
          <a:prstGeom prst="rect">
            <a:avLst/>
          </a:prstGeom>
          <a:solidFill>
            <a:srgbClr val="1E7BFF"/>
          </a:solidFill>
          <a:ln w="12700">
            <a:solidFill>
              <a:srgbClr val="1E7B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874520"/>
            <a:ext cx="10607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0A19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Plataforma interna que orquestra o ciclo de vida de tarefas, publicações e processos em torno do Legal One — combinando integrações diretas (REST/SOAP), automações robóticas (RPA) e Inteligência Artificial sob controle humano.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48640" y="4160520"/>
            <a:ext cx="356616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434840"/>
            <a:ext cx="502920" cy="5029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63040" y="44348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19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Inteligência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822960" y="521208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Haiku 4.5 classifica, extrai e sugere — sempre com revisão humana opcional.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97680" y="4160520"/>
            <a:ext cx="356616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4434840"/>
            <a:ext cx="502920" cy="5029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212080" y="44348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19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Orquestração</a:t>
            </a:r>
            <a:endParaRPr lang="en-US" sz="1900" dirty="0"/>
          </a:p>
        </p:txBody>
      </p:sp>
      <p:sp>
        <p:nvSpPr>
          <p:cNvPr id="15" name="Text 11"/>
          <p:cNvSpPr/>
          <p:nvPr/>
        </p:nvSpPr>
        <p:spPr>
          <a:xfrm>
            <a:off x="4572000" y="521208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Lotes, agendamentos e filas: o trabalho chega pronto para o advogado.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8046720" y="4160520"/>
            <a:ext cx="356616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4434840"/>
            <a:ext cx="502920" cy="5029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961120" y="44348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19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Governança</a:t>
            </a:r>
            <a:endParaRPr lang="en-US" sz="1900" dirty="0"/>
          </a:p>
        </p:txBody>
      </p:sp>
      <p:sp>
        <p:nvSpPr>
          <p:cNvPr id="19" name="Text 14"/>
          <p:cNvSpPr/>
          <p:nvPr/>
        </p:nvSpPr>
        <p:spPr>
          <a:xfrm>
            <a:off x="8321040" y="521208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ação auditável, cada custo rastreável, cada decisão reversível.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548640" y="6537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548640" y="6583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DunaFlow · MDR Advocacia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10149840" y="65836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55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PANORAMA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43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9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Sete módulos, uma única base operacional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53312"/>
            <a:ext cx="548640" cy="54864"/>
          </a:xfrm>
          <a:prstGeom prst="rect">
            <a:avLst/>
          </a:prstGeom>
          <a:solidFill>
            <a:srgbClr val="1E7BFF"/>
          </a:solidFill>
          <a:ln w="12700">
            <a:solidFill>
              <a:srgbClr val="1E7B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02336" y="1737360"/>
            <a:ext cx="274320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02336" y="1737360"/>
            <a:ext cx="2743200" cy="73152"/>
          </a:xfrm>
          <a:prstGeom prst="rect">
            <a:avLst/>
          </a:prstGeom>
          <a:solidFill>
            <a:srgbClr val="0A1940"/>
          </a:solidFill>
          <a:ln w="12700">
            <a:solidFill>
              <a:srgbClr val="0A194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2103120"/>
            <a:ext cx="548640" cy="5486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30936" y="27889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9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Criação em lote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30936" y="310896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Milhares de tarefas por execução, com histórico auditável.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282696" y="1737360"/>
            <a:ext cx="274320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282696" y="1737360"/>
            <a:ext cx="2743200" cy="73152"/>
          </a:xfrm>
          <a:prstGeom prst="rect">
            <a:avLst/>
          </a:prstGeom>
          <a:solidFill>
            <a:srgbClr val="0A1940"/>
          </a:solidFill>
          <a:ln w="12700">
            <a:solidFill>
              <a:srgbClr val="0A1940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7016" y="2103120"/>
            <a:ext cx="548640" cy="5486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11296" y="27889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9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Classificação com IA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3511296" y="310896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Haiku 4.5 + Batch API a custo marginal.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63056" y="1737360"/>
            <a:ext cx="274320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163056" y="1737360"/>
            <a:ext cx="2743200" cy="73152"/>
          </a:xfrm>
          <a:prstGeom prst="rect">
            <a:avLst/>
          </a:prstGeom>
          <a:solidFill>
            <a:srgbClr val="0A1940"/>
          </a:solidFill>
          <a:ln w="12700">
            <a:solidFill>
              <a:srgbClr val="0A1940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2103120"/>
            <a:ext cx="548640" cy="5486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391656" y="27889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9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Tratamento de publicações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6391656" y="310896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RPA cadastra a tarefa no Legal One pelo advogado.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9043416" y="1737360"/>
            <a:ext cx="274320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043416" y="1737360"/>
            <a:ext cx="2743200" cy="73152"/>
          </a:xfrm>
          <a:prstGeom prst="rect">
            <a:avLst/>
          </a:prstGeom>
          <a:solidFill>
            <a:srgbClr val="0A1940"/>
          </a:solidFill>
          <a:ln w="12700">
            <a:solidFill>
              <a:srgbClr val="0A1940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7736" y="2103120"/>
            <a:ext cx="548640" cy="54864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72016" y="27889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9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Monitoramento processual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9272016" y="310896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DataJud e DJEN com régua de maturidade.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1842516" y="4069080"/>
            <a:ext cx="274320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1842516" y="4069080"/>
            <a:ext cx="2743200" cy="73152"/>
          </a:xfrm>
          <a:prstGeom prst="rect">
            <a:avLst/>
          </a:prstGeom>
          <a:solidFill>
            <a:srgbClr val="0A1940"/>
          </a:solidFill>
          <a:ln w="12700">
            <a:solidFill>
              <a:srgbClr val="0A1940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16836" y="4434840"/>
            <a:ext cx="548640" cy="54864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2071116" y="51206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9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Automações agendadas</a:t>
            </a:r>
            <a:endParaRPr lang="en-US" sz="1500" dirty="0"/>
          </a:p>
        </p:txBody>
      </p:sp>
      <p:sp>
        <p:nvSpPr>
          <p:cNvPr id="29" name="Text 22"/>
          <p:cNvSpPr/>
          <p:nvPr/>
        </p:nvSpPr>
        <p:spPr>
          <a:xfrm>
            <a:off x="2071116" y="54406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APScheduler em alta disponibilidade.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4722876" y="4069080"/>
            <a:ext cx="274320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4722876" y="4069080"/>
            <a:ext cx="2743200" cy="73152"/>
          </a:xfrm>
          <a:prstGeom prst="rect">
            <a:avLst/>
          </a:prstGeom>
          <a:solidFill>
            <a:srgbClr val="0A1940"/>
          </a:solidFill>
          <a:ln w="12700">
            <a:solidFill>
              <a:srgbClr val="0A1940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7196" y="4434840"/>
            <a:ext cx="548640" cy="54864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4951476" y="51206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9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Painéis e métricas</a:t>
            </a:r>
            <a:endParaRPr lang="en-US" sz="1500" dirty="0"/>
          </a:p>
        </p:txBody>
      </p:sp>
      <p:sp>
        <p:nvSpPr>
          <p:cNvPr id="34" name="Text 26"/>
          <p:cNvSpPr/>
          <p:nvPr/>
        </p:nvSpPr>
        <p:spPr>
          <a:xfrm>
            <a:off x="4951476" y="54406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Visibilidade do que foi feito, está pendente e travou.</a:t>
            </a:r>
            <a:endParaRPr lang="en-US" sz="1100" dirty="0"/>
          </a:p>
        </p:txBody>
      </p:sp>
      <p:sp>
        <p:nvSpPr>
          <p:cNvPr id="35" name="Shape 27"/>
          <p:cNvSpPr/>
          <p:nvPr/>
        </p:nvSpPr>
        <p:spPr>
          <a:xfrm>
            <a:off x="7603236" y="4069080"/>
            <a:ext cx="274320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sp>
        <p:nvSpPr>
          <p:cNvPr id="36" name="Shape 28"/>
          <p:cNvSpPr/>
          <p:nvPr/>
        </p:nvSpPr>
        <p:spPr>
          <a:xfrm>
            <a:off x="7603236" y="4069080"/>
            <a:ext cx="2743200" cy="73152"/>
          </a:xfrm>
          <a:prstGeom prst="rect">
            <a:avLst/>
          </a:prstGeom>
          <a:solidFill>
            <a:srgbClr val="0A1940"/>
          </a:solidFill>
          <a:ln w="12700">
            <a:solidFill>
              <a:srgbClr val="0A1940"/>
            </a:solidFill>
            <a:prstDash val="solid"/>
          </a:ln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77556" y="4434840"/>
            <a:ext cx="548640" cy="548640"/>
          </a:xfrm>
          <a:prstGeom prst="rect">
            <a:avLst/>
          </a:prstGeom>
        </p:spPr>
      </p:pic>
      <p:sp>
        <p:nvSpPr>
          <p:cNvPr id="38" name="Text 29"/>
          <p:cNvSpPr/>
          <p:nvPr/>
        </p:nvSpPr>
        <p:spPr>
          <a:xfrm>
            <a:off x="7831836" y="51206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9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Administração</a:t>
            </a:r>
            <a:endParaRPr lang="en-US" sz="1500" dirty="0"/>
          </a:p>
        </p:txBody>
      </p:sp>
      <p:sp>
        <p:nvSpPr>
          <p:cNvPr id="39" name="Text 30"/>
          <p:cNvSpPr/>
          <p:nvPr/>
        </p:nvSpPr>
        <p:spPr>
          <a:xfrm>
            <a:off x="7831836" y="54406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Papéis, permissões, catálogos e auditoria.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548640" y="6537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548640" y="6583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DunaFlow · MDR Advocacia</a:t>
            </a:r>
            <a:endParaRPr lang="en-US" sz="900" dirty="0"/>
          </a:p>
        </p:txBody>
      </p:sp>
      <p:sp>
        <p:nvSpPr>
          <p:cNvPr id="42" name="Text 33"/>
          <p:cNvSpPr/>
          <p:nvPr/>
        </p:nvSpPr>
        <p:spPr>
          <a:xfrm>
            <a:off x="10149840" y="65836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55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DESTAQUE #1 · INTELIGÊNCIA APLICADA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43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9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Classificação com IA + loop de feedback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353312"/>
            <a:ext cx="548640" cy="54864"/>
          </a:xfrm>
          <a:prstGeom prst="rect">
            <a:avLst/>
          </a:prstGeom>
          <a:solidFill>
            <a:srgbClr val="1E7BFF"/>
          </a:solidFill>
          <a:ln w="12700">
            <a:solidFill>
              <a:srgbClr val="1E7B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73736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19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funciona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2148840"/>
            <a:ext cx="5760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Haiku 4.5 lê cada publicação e sugere </a:t>
            </a:r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categoria, subcategoria e vínculo de pasta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com justificativa. O advogado confirma ou corrige, e a plataforma aprende para o próximo ciclo.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383280"/>
            <a:ext cx="576072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3383280"/>
            <a:ext cx="73152" cy="566928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38328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7A7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280160" y="3383280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Ingestão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834640" y="3383280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Publicações entram via DJEN/Legal One.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4041648"/>
            <a:ext cx="576072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4041648"/>
            <a:ext cx="73152" cy="566928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4041648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7A7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280160" y="404164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834640" y="4041648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+ JSON schema → categoria sugerida.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4700016"/>
            <a:ext cx="576072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700016"/>
            <a:ext cx="73152" cy="566928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70001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7A7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280160" y="4700016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834640" y="4700016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Advogado aprova, ajusta ou rejeita.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5358384"/>
            <a:ext cx="576072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5358384"/>
            <a:ext cx="73152" cy="566928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5358384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7A7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1280160" y="5358384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Aprendizado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834640" y="5358384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alimenta ajustes no prompt.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583680" y="1737360"/>
            <a:ext cx="5029200" cy="4389120"/>
          </a:xfrm>
          <a:prstGeom prst="rect">
            <a:avLst/>
          </a:prstGeom>
          <a:solidFill>
            <a:srgbClr val="0A1940"/>
          </a:solidFill>
          <a:ln w="12700">
            <a:solidFill>
              <a:srgbClr val="0A1940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583680" y="1737360"/>
            <a:ext cx="5029200" cy="73152"/>
          </a:xfrm>
          <a:prstGeom prst="rect">
            <a:avLst/>
          </a:prstGeom>
          <a:solidFill>
            <a:srgbClr val="1E7BFF"/>
          </a:solidFill>
          <a:ln w="12700">
            <a:solidFill>
              <a:srgbClr val="1E7B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6560" y="19202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1E7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salto econômico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766560" y="2331720"/>
            <a:ext cx="4663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US$ 0,002</a:t>
            </a:r>
            <a:endParaRPr lang="en-US" sz="6400" dirty="0"/>
          </a:p>
        </p:txBody>
      </p:sp>
      <p:sp>
        <p:nvSpPr>
          <p:cNvPr id="31" name="Text 29"/>
          <p:cNvSpPr/>
          <p:nvPr/>
        </p:nvSpPr>
        <p:spPr>
          <a:xfrm>
            <a:off x="6766560" y="347472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D9E0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publicação classificada — graças ao uso da Batch API e do Haiku 4.5.</a:t>
            </a:r>
            <a:endParaRPr lang="en-US" sz="1400" dirty="0"/>
          </a:p>
        </p:txBody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4489704"/>
            <a:ext cx="201168" cy="201168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7059168" y="44348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API para lotes assíncronos</a:t>
            </a:r>
            <a:endParaRPr lang="en-US" sz="1200" dirty="0"/>
          </a:p>
        </p:txBody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4873752"/>
            <a:ext cx="201168" cy="201168"/>
          </a:xfrm>
          <a:prstGeom prst="rect">
            <a:avLst/>
          </a:prstGeom>
        </p:spPr>
      </p:pic>
      <p:sp>
        <p:nvSpPr>
          <p:cNvPr id="35" name="Text 31"/>
          <p:cNvSpPr/>
          <p:nvPr/>
        </p:nvSpPr>
        <p:spPr>
          <a:xfrm>
            <a:off x="7059168" y="481888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schema valida a saída do modelo</a:t>
            </a:r>
            <a:endParaRPr lang="en-US" sz="1200" dirty="0"/>
          </a:p>
        </p:txBody>
      </p:sp>
      <p:pic>
        <p:nvPicPr>
          <p:cNvPr id="3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5257800"/>
            <a:ext cx="201168" cy="201168"/>
          </a:xfrm>
          <a:prstGeom prst="rect">
            <a:avLst/>
          </a:prstGeom>
        </p:spPr>
      </p:pic>
      <p:sp>
        <p:nvSpPr>
          <p:cNvPr id="37" name="Text 32"/>
          <p:cNvSpPr/>
          <p:nvPr/>
        </p:nvSpPr>
        <p:spPr>
          <a:xfrm>
            <a:off x="7059168" y="5202936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de prompts reduz tokens repetidos</a:t>
            </a:r>
            <a:endParaRPr lang="en-US" sz="1200" dirty="0"/>
          </a:p>
        </p:txBody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0" y="5641848"/>
            <a:ext cx="201168" cy="201168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7059168" y="558698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de feedback versionado</a:t>
            </a:r>
            <a:endParaRPr lang="en-US" sz="1200" dirty="0"/>
          </a:p>
        </p:txBody>
      </p:sp>
      <p:sp>
        <p:nvSpPr>
          <p:cNvPr id="40" name="Shape 34"/>
          <p:cNvSpPr/>
          <p:nvPr/>
        </p:nvSpPr>
        <p:spPr>
          <a:xfrm>
            <a:off x="548640" y="6537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548640" y="6583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DunaFlow · MDR Advocacia</a:t>
            </a:r>
            <a:endParaRPr lang="en-US" sz="900" dirty="0"/>
          </a:p>
        </p:txBody>
      </p:sp>
      <p:sp>
        <p:nvSpPr>
          <p:cNvPr id="42" name="Text 36"/>
          <p:cNvSpPr/>
          <p:nvPr/>
        </p:nvSpPr>
        <p:spPr>
          <a:xfrm>
            <a:off x="10149840" y="65836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926080" cy="310896"/>
          </a:xfrm>
          <a:prstGeom prst="rect">
            <a:avLst/>
          </a:prstGeom>
          <a:solidFill>
            <a:srgbClr val="1E7BFF"/>
          </a:solidFill>
          <a:ln w="12700">
            <a:solidFill>
              <a:srgbClr val="1E7B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FEATURE DE DESTAQUE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19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Ouro em publicações sem pasta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558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Embargos à execução e agravos de instrumento identificados no que antes era ruído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057400"/>
            <a:ext cx="5577840" cy="43434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2057400"/>
            <a:ext cx="73152" cy="4343400"/>
          </a:xfrm>
          <a:prstGeom prst="rect">
            <a:avLst/>
          </a:prstGeom>
          <a:solidFill>
            <a:srgbClr val="D65A4B"/>
          </a:solidFill>
          <a:ln w="12700">
            <a:solidFill>
              <a:srgbClr val="D65A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945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65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costumava acontecer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2606040"/>
            <a:ext cx="5120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Legal One recebe centenas de publicações por dia. Quando o número do processo não bate com nenhuma pasta cadastrada, a publicação vira "órfã": sem responsável, sem triagem, e muitas vezes descartada por falta de tempo.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46634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65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custo invisível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507492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 dessa pilha havia casos em que o escritório tinha legítimo interesse: embargos à execução e agravos de instrumento vinculados a processos originários já patrocinados, mas cadastrados sob outro número.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63640" y="2057400"/>
            <a:ext cx="5349240" cy="4343400"/>
          </a:xfrm>
          <a:prstGeom prst="rect">
            <a:avLst/>
          </a:prstGeom>
          <a:solidFill>
            <a:srgbClr val="0A1940"/>
          </a:solidFill>
          <a:ln w="12700">
            <a:solidFill>
              <a:srgbClr val="0A1940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63640" y="2057400"/>
            <a:ext cx="5349240" cy="73152"/>
          </a:xfrm>
          <a:prstGeom prst="rect">
            <a:avLst/>
          </a:prstGeom>
          <a:solidFill>
            <a:srgbClr val="1E7BFF"/>
          </a:solidFill>
          <a:ln w="12700">
            <a:solidFill>
              <a:srgbClr val="1E7BFF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2331720"/>
            <a:ext cx="457200" cy="45720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7040880" y="23317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virada do DunaFlow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6492240" y="292608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DC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classificação por IA passa a olhar também para o campo natureza do processo. Quando encontra padrões associados a embargos à execução ou agravos de instrumento em publicações sem pasta, o sistema sugere o vínculo ao processo originário — e devolve essas publicações à operação.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492240" y="50292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7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18" name="Text 15"/>
          <p:cNvSpPr/>
          <p:nvPr/>
        </p:nvSpPr>
        <p:spPr>
          <a:xfrm>
            <a:off x="6492240" y="55595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classes-chave detectadas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6492240" y="5779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A9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Embargos à execução · Agravos de instrumento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8138160" y="50292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7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3000" dirty="0"/>
          </a:p>
        </p:txBody>
      </p:sp>
      <p:sp>
        <p:nvSpPr>
          <p:cNvPr id="21" name="Text 18"/>
          <p:cNvSpPr/>
          <p:nvPr/>
        </p:nvSpPr>
        <p:spPr>
          <a:xfrm>
            <a:off x="8138160" y="55595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publicações filtradas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138160" y="5779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A9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órfã sai do radar sem revisão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9784080" y="50292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7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24" name="Text 21"/>
          <p:cNvSpPr/>
          <p:nvPr/>
        </p:nvSpPr>
        <p:spPr>
          <a:xfrm>
            <a:off x="9784080" y="55595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filtros: natureza + polo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9784080" y="5779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A9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 reorganizada + link direto ao Legal One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548640" y="6537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48640" y="6583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DunaFlow · MDR Advocacia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10149840" y="65836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55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DESTAQUE #3 · INTELIGÊNCIA PROCESSUAL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43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9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Monitoramento com régua de maturidade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53312"/>
            <a:ext cx="548640" cy="54864"/>
          </a:xfrm>
          <a:prstGeom prst="rect">
            <a:avLst/>
          </a:prstGeom>
          <a:solidFill>
            <a:srgbClr val="1E7BFF"/>
          </a:solidFill>
          <a:ln w="12700">
            <a:solidFill>
              <a:srgbClr val="1E7B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73736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processo monitorado recebe uma etiqueta de maturidade em uma escala de 7 níveis — do "apenas número distribuído" até "inteligência processual completa". O DunaFlow evolui o processo pela régua conforme cruza dados do DataJud (CNJ), DJEN e Legal One — inclusive extraindo CNJ do texto em publicações sem pasta vinculada.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3246120"/>
            <a:ext cx="11064240" cy="10972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3246120"/>
            <a:ext cx="7903029" cy="109728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37775" y="3127248"/>
            <a:ext cx="402336" cy="402336"/>
          </a:xfrm>
          <a:prstGeom prst="oval">
            <a:avLst/>
          </a:prstGeom>
          <a:solidFill>
            <a:srgbClr val="0B7A79"/>
          </a:solidFill>
          <a:ln w="12700">
            <a:solidFill>
              <a:srgbClr val="0B7A7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37775" y="3127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1703" y="36118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18381" y="3127248"/>
            <a:ext cx="402336" cy="402336"/>
          </a:xfrm>
          <a:prstGeom prst="oval">
            <a:avLst/>
          </a:prstGeom>
          <a:solidFill>
            <a:srgbClr val="0B7A79"/>
          </a:solidFill>
          <a:ln w="12700">
            <a:solidFill>
              <a:srgbClr val="0B7A7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18381" y="3127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142309" y="36118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298986" y="3127248"/>
            <a:ext cx="402336" cy="402336"/>
          </a:xfrm>
          <a:prstGeom prst="oval">
            <a:avLst/>
          </a:prstGeom>
          <a:solidFill>
            <a:srgbClr val="0B7A79"/>
          </a:solidFill>
          <a:ln w="12700">
            <a:solidFill>
              <a:srgbClr val="0B7A7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98986" y="3127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722914" y="36118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879592" y="3127248"/>
            <a:ext cx="402336" cy="402336"/>
          </a:xfrm>
          <a:prstGeom prst="oval">
            <a:avLst/>
          </a:prstGeom>
          <a:solidFill>
            <a:srgbClr val="0B7A79"/>
          </a:solidFill>
          <a:ln w="12700">
            <a:solidFill>
              <a:srgbClr val="0B7A7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879592" y="3127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303520" y="36118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Assuntos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460198" y="3127248"/>
            <a:ext cx="402336" cy="402336"/>
          </a:xfrm>
          <a:prstGeom prst="oval">
            <a:avLst/>
          </a:prstGeom>
          <a:solidFill>
            <a:srgbClr val="0B7A79"/>
          </a:solidFill>
          <a:ln w="12700">
            <a:solidFill>
              <a:srgbClr val="0B7A7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60198" y="3127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N5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84126" y="36118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Movimentos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040803" y="3127248"/>
            <a:ext cx="402336" cy="402336"/>
          </a:xfrm>
          <a:prstGeom prst="oval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040803" y="3127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464731" y="36118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0621409" y="3127248"/>
            <a:ext cx="402336" cy="402336"/>
          </a:xfrm>
          <a:prstGeom prst="oval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621409" y="3127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N7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0045337" y="36118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Inteligência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4297680"/>
            <a:ext cx="539496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48640" y="4297680"/>
            <a:ext cx="73152" cy="210312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pic>
        <p:nvPicPr>
          <p:cNvPr id="3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462272"/>
            <a:ext cx="320040" cy="320040"/>
          </a:xfrm>
          <a:prstGeom prst="rect">
            <a:avLst/>
          </a:prstGeom>
        </p:spPr>
      </p:pic>
      <p:sp>
        <p:nvSpPr>
          <p:cNvPr id="32" name="Text 29"/>
          <p:cNvSpPr/>
          <p:nvPr/>
        </p:nvSpPr>
        <p:spPr>
          <a:xfrm>
            <a:off x="1188720" y="4434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19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Fontes oficiais</a:t>
            </a:r>
            <a:endParaRPr lang="en-US" sz="1700" dirty="0"/>
          </a:p>
        </p:txBody>
      </p:sp>
      <p:sp>
        <p:nvSpPr>
          <p:cNvPr id="33" name="Text 30"/>
          <p:cNvSpPr/>
          <p:nvPr/>
        </p:nvSpPr>
        <p:spPr>
          <a:xfrm>
            <a:off x="868680" y="4846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DataJud (CNJ)</a:t>
            </a:r>
            <a:endParaRPr lang="en-US" sz="1200" dirty="0"/>
          </a:p>
          <a:p>
            <a:pPr lvl="1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classe, assunto, movimentos e partes oficiais.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DJEN / Comunica (CNJ)</a:t>
            </a:r>
            <a:endParaRPr lang="en-US" sz="1200" dirty="0"/>
          </a:p>
          <a:p>
            <a:pPr lvl="1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publicações e intimações eletrônicas.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One</a:t>
            </a:r>
            <a:endParaRPr lang="en-US" sz="1200" dirty="0"/>
          </a:p>
          <a:p>
            <a:pPr lvl="1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pastas, partes, compromissos e status do escritório.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6217920" y="4297680"/>
            <a:ext cx="539496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6217920" y="4297680"/>
            <a:ext cx="73152" cy="2103120"/>
          </a:xfrm>
          <a:prstGeom prst="rect">
            <a:avLst/>
          </a:prstGeom>
          <a:solidFill>
            <a:srgbClr val="1E7BFF"/>
          </a:solidFill>
          <a:ln w="12700">
            <a:solidFill>
              <a:srgbClr val="1E7BFF"/>
            </a:solidFill>
            <a:prstDash val="solid"/>
          </a:ln>
        </p:spPr>
      </p:sp>
      <p:pic>
        <p:nvPicPr>
          <p:cNvPr id="3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462272"/>
            <a:ext cx="320040" cy="320040"/>
          </a:xfrm>
          <a:prstGeom prst="rect">
            <a:avLst/>
          </a:prstGeom>
        </p:spPr>
      </p:pic>
      <p:sp>
        <p:nvSpPr>
          <p:cNvPr id="37" name="Text 33"/>
          <p:cNvSpPr/>
          <p:nvPr/>
        </p:nvSpPr>
        <p:spPr>
          <a:xfrm>
            <a:off x="6858000" y="4434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19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o usuário ganha</a:t>
            </a:r>
            <a:endParaRPr lang="en-US" sz="1700" dirty="0"/>
          </a:p>
        </p:txBody>
      </p:sp>
      <p:sp>
        <p:nvSpPr>
          <p:cNvPr id="38" name="Text 34"/>
          <p:cNvSpPr/>
          <p:nvPr/>
        </p:nvSpPr>
        <p:spPr>
          <a:xfrm>
            <a:off x="6537960" y="484632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Visibilidade do nível de conhecimento sobre cada processo.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Priorização objetiva: o que está pronto para atuar e o que precisa de dado.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sólida para alertas de prazo e sugestões automáticas.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consolidado — o processo nunca regride de nível sem razão.</a:t>
            </a:r>
            <a:endParaRPr lang="en-US" sz="1200" dirty="0"/>
          </a:p>
        </p:txBody>
      </p:sp>
      <p:sp>
        <p:nvSpPr>
          <p:cNvPr id="39" name="Shape 35"/>
          <p:cNvSpPr/>
          <p:nvPr/>
        </p:nvSpPr>
        <p:spPr>
          <a:xfrm>
            <a:off x="548640" y="6537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548640" y="6583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DunaFlow · MDR Advocacia</a:t>
            </a:r>
            <a:endParaRPr lang="en-US" sz="900" dirty="0"/>
          </a:p>
        </p:txBody>
      </p:sp>
      <p:sp>
        <p:nvSpPr>
          <p:cNvPr id="41" name="Text 37"/>
          <p:cNvSpPr/>
          <p:nvPr/>
        </p:nvSpPr>
        <p:spPr>
          <a:xfrm>
            <a:off x="10149840" y="65836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55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DESTAQUE #4 · EXECUÇÃO AUTÔNOMA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43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9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Automações agendadas + RPA no Legal One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353312"/>
            <a:ext cx="548640" cy="54864"/>
          </a:xfrm>
          <a:prstGeom prst="rect">
            <a:avLst/>
          </a:prstGeom>
          <a:solidFill>
            <a:srgbClr val="1E7BFF"/>
          </a:solidFill>
          <a:ln w="12700">
            <a:solidFill>
              <a:srgbClr val="1E7B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37360"/>
            <a:ext cx="5532120" cy="46177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737360"/>
            <a:ext cx="73152" cy="461772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920240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80160" y="1874520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19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 interna (APScheduler)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868680" y="246888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Rotinas recorrentes rodam sozinhas, com histórico e tolerância a falhas: a plataforma acorda, executa, registra e avisa.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68680" y="3429000"/>
            <a:ext cx="5029200" cy="566928"/>
          </a:xfrm>
          <a:prstGeom prst="rect">
            <a:avLst/>
          </a:prstGeom>
          <a:solidFill>
            <a:srgbClr val="F4F6FB"/>
          </a:solidFill>
          <a:ln w="6350">
            <a:solidFill>
              <a:srgbClr val="E2E8F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56616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325880" y="342900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Monitoramento DataJud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2926080" y="342900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 classes, assuntos e movimentos.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868680" y="4114800"/>
            <a:ext cx="5029200" cy="566928"/>
          </a:xfrm>
          <a:prstGeom prst="rect">
            <a:avLst/>
          </a:prstGeom>
          <a:solidFill>
            <a:srgbClr val="F4F6FB"/>
          </a:solidFill>
          <a:ln w="6350">
            <a:solidFill>
              <a:srgbClr val="E2E8F0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25196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325880" y="411480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Varredura DJEN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2926080" y="411480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diária por publicações vinculadas.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868680" y="4800600"/>
            <a:ext cx="5029200" cy="566928"/>
          </a:xfrm>
          <a:prstGeom prst="rect">
            <a:avLst/>
          </a:prstGeom>
          <a:solidFill>
            <a:srgbClr val="F4F6FB"/>
          </a:solidFill>
          <a:ln w="6350">
            <a:solidFill>
              <a:srgbClr val="E2E8F0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937760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325880" y="480060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em lote</a:t>
            </a:r>
            <a:endParaRPr lang="en-US" sz="1200" dirty="0"/>
          </a:p>
        </p:txBody>
      </p:sp>
      <p:sp>
        <p:nvSpPr>
          <p:cNvPr id="21" name="Text 15"/>
          <p:cNvSpPr/>
          <p:nvPr/>
        </p:nvSpPr>
        <p:spPr>
          <a:xfrm>
            <a:off x="2926080" y="480060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 publicações não tratadas e envia ao Haiku 4.5.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868680" y="5486400"/>
            <a:ext cx="5029200" cy="566928"/>
          </a:xfrm>
          <a:prstGeom prst="rect">
            <a:avLst/>
          </a:prstGeom>
          <a:solidFill>
            <a:srgbClr val="F4F6FB"/>
          </a:solidFill>
          <a:ln w="6350">
            <a:solidFill>
              <a:srgbClr val="E2E8F0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5623560"/>
            <a:ext cx="274320" cy="27432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325880" y="548640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Limpeza e saúde</a:t>
            </a:r>
            <a:endParaRPr lang="en-US" sz="1200" dirty="0"/>
          </a:p>
        </p:txBody>
      </p:sp>
      <p:sp>
        <p:nvSpPr>
          <p:cNvPr id="25" name="Text 18"/>
          <p:cNvSpPr/>
          <p:nvPr/>
        </p:nvSpPr>
        <p:spPr>
          <a:xfrm>
            <a:off x="2926080" y="548640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Ciclos de maintenance: filas, logs, caches.</a:t>
            </a:r>
            <a:endParaRPr lang="en-US" sz="1000" dirty="0"/>
          </a:p>
        </p:txBody>
      </p:sp>
      <p:sp>
        <p:nvSpPr>
          <p:cNvPr id="26" name="Shape 19"/>
          <p:cNvSpPr/>
          <p:nvPr/>
        </p:nvSpPr>
        <p:spPr>
          <a:xfrm>
            <a:off x="6217920" y="1737360"/>
            <a:ext cx="5394960" cy="46177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6217920" y="1737360"/>
            <a:ext cx="73152" cy="4617720"/>
          </a:xfrm>
          <a:prstGeom prst="rect">
            <a:avLst/>
          </a:prstGeom>
          <a:solidFill>
            <a:srgbClr val="1E7BFF"/>
          </a:solidFill>
          <a:ln w="12700">
            <a:solidFill>
              <a:srgbClr val="1E7BFF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6520" y="1920240"/>
            <a:ext cx="411480" cy="411480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6949440" y="18745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19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RPA sobre Legal One (Playwright)</a:t>
            </a:r>
            <a:endParaRPr lang="en-US" sz="1900" dirty="0"/>
          </a:p>
        </p:txBody>
      </p:sp>
      <p:sp>
        <p:nvSpPr>
          <p:cNvPr id="30" name="Text 22"/>
          <p:cNvSpPr/>
          <p:nvPr/>
        </p:nvSpPr>
        <p:spPr>
          <a:xfrm>
            <a:off x="6537960" y="2468880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não há API, o robô faz o trabalho manual: navega o Legal One, cadastra tarefas, anexa publicações e atualiza status — no ritmo que o escritório precisa.</a:t>
            </a:r>
            <a:endParaRPr lang="en-US" sz="1200" dirty="0"/>
          </a:p>
        </p:txBody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7960" y="3703320"/>
            <a:ext cx="256032" cy="256032"/>
          </a:xfrm>
          <a:prstGeom prst="rect">
            <a:avLst/>
          </a:prstGeom>
        </p:spPr>
      </p:pic>
      <p:sp>
        <p:nvSpPr>
          <p:cNvPr id="32" name="Text 23"/>
          <p:cNvSpPr/>
          <p:nvPr/>
        </p:nvSpPr>
        <p:spPr>
          <a:xfrm>
            <a:off x="6858000" y="36118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automático de tarefas</a:t>
            </a:r>
            <a:endParaRPr lang="en-US" sz="1300" dirty="0"/>
          </a:p>
        </p:txBody>
      </p:sp>
      <p:pic>
        <p:nvPicPr>
          <p:cNvPr id="3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37960" y="4270248"/>
            <a:ext cx="256032" cy="256032"/>
          </a:xfrm>
          <a:prstGeom prst="rect">
            <a:avLst/>
          </a:prstGeom>
        </p:spPr>
      </p:pic>
      <p:sp>
        <p:nvSpPr>
          <p:cNvPr id="34" name="Text 24"/>
          <p:cNvSpPr/>
          <p:nvPr/>
        </p:nvSpPr>
        <p:spPr>
          <a:xfrm>
            <a:off x="6858000" y="41788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Vinculação de publicação à pasta</a:t>
            </a:r>
            <a:endParaRPr lang="en-US" sz="1300" dirty="0"/>
          </a:p>
        </p:txBody>
      </p:sp>
      <p:pic>
        <p:nvPicPr>
          <p:cNvPr id="3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7960" y="4837176"/>
            <a:ext cx="256032" cy="256032"/>
          </a:xfrm>
          <a:prstGeom prst="rect">
            <a:avLst/>
          </a:prstGeom>
        </p:spPr>
      </p:pic>
      <p:sp>
        <p:nvSpPr>
          <p:cNvPr id="36" name="Text 25"/>
          <p:cNvSpPr/>
          <p:nvPr/>
        </p:nvSpPr>
        <p:spPr>
          <a:xfrm>
            <a:off x="6858000" y="474573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Atualização de andamentos</a:t>
            </a:r>
            <a:endParaRPr lang="en-US" sz="1300" dirty="0"/>
          </a:p>
        </p:txBody>
      </p:sp>
      <p:pic>
        <p:nvPicPr>
          <p:cNvPr id="3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37960" y="5404104"/>
            <a:ext cx="256032" cy="256032"/>
          </a:xfrm>
          <a:prstGeom prst="rect">
            <a:avLst/>
          </a:prstGeom>
        </p:spPr>
      </p:pic>
      <p:sp>
        <p:nvSpPr>
          <p:cNvPr id="38" name="Text 26"/>
          <p:cNvSpPr/>
          <p:nvPr/>
        </p:nvSpPr>
        <p:spPr>
          <a:xfrm>
            <a:off x="6858000" y="53126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Retomada segura em caso de falha</a:t>
            </a:r>
            <a:endParaRPr lang="en-US" sz="1300" dirty="0"/>
          </a:p>
        </p:txBody>
      </p:sp>
      <p:sp>
        <p:nvSpPr>
          <p:cNvPr id="39" name="Shape 27"/>
          <p:cNvSpPr/>
          <p:nvPr/>
        </p:nvSpPr>
        <p:spPr>
          <a:xfrm>
            <a:off x="6537960" y="5833872"/>
            <a:ext cx="4892040" cy="438912"/>
          </a:xfrm>
          <a:prstGeom prst="rect">
            <a:avLst/>
          </a:prstGeom>
          <a:solidFill>
            <a:srgbClr val="BFD7FF"/>
          </a:solidFill>
          <a:ln w="12700">
            <a:solidFill>
              <a:srgbClr val="BFD7FF"/>
            </a:solidFill>
            <a:prstDash val="solid"/>
          </a:ln>
        </p:spPr>
      </p:sp>
      <p:sp>
        <p:nvSpPr>
          <p:cNvPr id="40" name="Text 28"/>
          <p:cNvSpPr/>
          <p:nvPr/>
        </p:nvSpPr>
        <p:spPr>
          <a:xfrm>
            <a:off x="6537960" y="5833872"/>
            <a:ext cx="4892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A19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execução do robô é auditável e rastreável por ID.</a:t>
            </a:r>
            <a:endParaRPr lang="en-US" sz="1100" dirty="0"/>
          </a:p>
        </p:txBody>
      </p:sp>
      <p:sp>
        <p:nvSpPr>
          <p:cNvPr id="41" name="Shape 29"/>
          <p:cNvSpPr/>
          <p:nvPr/>
        </p:nvSpPr>
        <p:spPr>
          <a:xfrm>
            <a:off x="548640" y="6537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42" name="Text 30"/>
          <p:cNvSpPr/>
          <p:nvPr/>
        </p:nvSpPr>
        <p:spPr>
          <a:xfrm>
            <a:off x="548640" y="6583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DunaFlow · MDR Advocacia</a:t>
            </a:r>
            <a:endParaRPr lang="en-US" sz="900" dirty="0"/>
          </a:p>
        </p:txBody>
      </p:sp>
      <p:sp>
        <p:nvSpPr>
          <p:cNvPr id="43" name="Text 31"/>
          <p:cNvSpPr/>
          <p:nvPr/>
        </p:nvSpPr>
        <p:spPr>
          <a:xfrm>
            <a:off x="10149840" y="65836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55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JÁ MUDOU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43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9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Resultados concretos da plataforma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53312"/>
            <a:ext cx="548640" cy="54864"/>
          </a:xfrm>
          <a:prstGeom prst="rect">
            <a:avLst/>
          </a:prstGeom>
          <a:solidFill>
            <a:srgbClr val="1E7BFF"/>
          </a:solidFill>
          <a:ln w="12700">
            <a:solidFill>
              <a:srgbClr val="1E7B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783080"/>
            <a:ext cx="2697480" cy="20574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93776" y="1783080"/>
            <a:ext cx="2697480" cy="73152"/>
          </a:xfrm>
          <a:prstGeom prst="rect">
            <a:avLst/>
          </a:prstGeom>
          <a:solidFill>
            <a:srgbClr val="1E7BFF"/>
          </a:solidFill>
          <a:ln w="12700">
            <a:solidFill>
              <a:srgbClr val="1E7BF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2057400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68096" y="256032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9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US$ 0,002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768096" y="320040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publicação classificada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328416" y="1783080"/>
            <a:ext cx="2697480" cy="20574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328416" y="1783080"/>
            <a:ext cx="2697480" cy="73152"/>
          </a:xfrm>
          <a:prstGeom prst="rect">
            <a:avLst/>
          </a:prstGeom>
          <a:solidFill>
            <a:srgbClr val="1E7BFF"/>
          </a:solidFill>
          <a:ln w="12700">
            <a:solidFill>
              <a:srgbClr val="1E7B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2736" y="2057400"/>
            <a:ext cx="411480" cy="411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02736" y="256032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9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níveis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3602736" y="320040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régua de maturidade processual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163056" y="1783080"/>
            <a:ext cx="2697480" cy="20574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163056" y="1783080"/>
            <a:ext cx="2697480" cy="73152"/>
          </a:xfrm>
          <a:prstGeom prst="rect">
            <a:avLst/>
          </a:prstGeom>
          <a:solidFill>
            <a:srgbClr val="1E7BFF"/>
          </a:solidFill>
          <a:ln w="12700">
            <a:solidFill>
              <a:srgbClr val="1E7BFF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2057400"/>
            <a:ext cx="411480" cy="4114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37376" y="256032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9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24/7</a:t>
            </a:r>
            <a:endParaRPr lang="en-US" sz="2800" dirty="0"/>
          </a:p>
        </p:txBody>
      </p:sp>
      <p:sp>
        <p:nvSpPr>
          <p:cNvPr id="19" name="Text 14"/>
          <p:cNvSpPr/>
          <p:nvPr/>
        </p:nvSpPr>
        <p:spPr>
          <a:xfrm>
            <a:off x="6437376" y="320040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automações sem intervenção humana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8997696" y="1783080"/>
            <a:ext cx="2697480" cy="20574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997696" y="1783080"/>
            <a:ext cx="2697480" cy="73152"/>
          </a:xfrm>
          <a:prstGeom prst="rect">
            <a:avLst/>
          </a:prstGeom>
          <a:solidFill>
            <a:srgbClr val="1E7BFF"/>
          </a:solidFill>
          <a:ln w="12700">
            <a:solidFill>
              <a:srgbClr val="1E7BFF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2016" y="2057400"/>
            <a:ext cx="411480" cy="41148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72016" y="256032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9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1.000s</a:t>
            </a:r>
            <a:endParaRPr lang="en-US" sz="2800" dirty="0"/>
          </a:p>
        </p:txBody>
      </p:sp>
      <p:sp>
        <p:nvSpPr>
          <p:cNvPr id="24" name="Text 18"/>
          <p:cNvSpPr/>
          <p:nvPr/>
        </p:nvSpPr>
        <p:spPr>
          <a:xfrm>
            <a:off x="9272016" y="320040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tarefas criadas em lote por execução</a:t>
            </a:r>
            <a:endParaRPr lang="en-US" sz="1200" dirty="0"/>
          </a:p>
        </p:txBody>
      </p:sp>
      <p:sp>
        <p:nvSpPr>
          <p:cNvPr id="25" name="Shape 19"/>
          <p:cNvSpPr/>
          <p:nvPr/>
        </p:nvSpPr>
        <p:spPr>
          <a:xfrm>
            <a:off x="548640" y="4069080"/>
            <a:ext cx="11064240" cy="2286000"/>
          </a:xfrm>
          <a:prstGeom prst="rect">
            <a:avLst/>
          </a:prstGeom>
          <a:solidFill>
            <a:srgbClr val="0A1940"/>
          </a:solidFill>
          <a:ln w="12700">
            <a:solidFill>
              <a:srgbClr val="0A1940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548640" y="4069080"/>
            <a:ext cx="11064240" cy="73152"/>
          </a:xfrm>
          <a:prstGeom prst="rect">
            <a:avLst/>
          </a:prstGeom>
          <a:solidFill>
            <a:srgbClr val="1E7BFF"/>
          </a:solidFill>
          <a:ln w="12700">
            <a:solidFill>
              <a:srgbClr val="1E7BFF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2960" y="42062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os ganhos que não aparecem em tabela</a:t>
            </a:r>
            <a:endParaRPr lang="en-US" sz="2000" dirty="0"/>
          </a:p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846320"/>
            <a:ext cx="274320" cy="27432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188720" y="48006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7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retrabalho</a:t>
            </a:r>
            <a:endParaRPr lang="en-US" sz="1400" dirty="0"/>
          </a:p>
        </p:txBody>
      </p:sp>
      <p:sp>
        <p:nvSpPr>
          <p:cNvPr id="30" name="Text 23"/>
          <p:cNvSpPr/>
          <p:nvPr/>
        </p:nvSpPr>
        <p:spPr>
          <a:xfrm>
            <a:off x="822960" y="525780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E0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Classificação, vínculo e cadastro viram um único fluxo revisado, com retry individual em caso de falha.</a:t>
            </a:r>
            <a:endParaRPr lang="en-US" sz="1200" dirty="0"/>
          </a:p>
        </p:txBody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0560" y="4846320"/>
            <a:ext cx="274320" cy="27432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4846320" y="48006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7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Resgate de processos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4480560" y="525780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E0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Embargos, agravos e CNJs extraídos do texto voltam à operação ativa.</a:t>
            </a:r>
            <a:endParaRPr lang="en-US" sz="1200" dirty="0"/>
          </a:p>
        </p:txBody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38160" y="4846320"/>
            <a:ext cx="274320" cy="274320"/>
          </a:xfrm>
          <a:prstGeom prst="rect">
            <a:avLst/>
          </a:prstGeom>
        </p:spPr>
      </p:pic>
      <p:sp>
        <p:nvSpPr>
          <p:cNvPr id="35" name="Text 26"/>
          <p:cNvSpPr/>
          <p:nvPr/>
        </p:nvSpPr>
        <p:spPr>
          <a:xfrm>
            <a:off x="8503920" y="48006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7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executivo</a:t>
            </a:r>
            <a:endParaRPr lang="en-US" sz="1400" dirty="0"/>
          </a:p>
        </p:txBody>
      </p:sp>
      <p:sp>
        <p:nvSpPr>
          <p:cNvPr id="36" name="Text 27"/>
          <p:cNvSpPr/>
          <p:nvPr/>
        </p:nvSpPr>
        <p:spPr>
          <a:xfrm>
            <a:off x="8138160" y="525780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E0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KPIs, funil e velocidade em tempo real — o que foi feito, o que pendurou e onde travou.</a:t>
            </a:r>
            <a:endParaRPr lang="en-US" sz="1200" dirty="0"/>
          </a:p>
        </p:txBody>
      </p:sp>
      <p:sp>
        <p:nvSpPr>
          <p:cNvPr id="37" name="Shape 28"/>
          <p:cNvSpPr/>
          <p:nvPr/>
        </p:nvSpPr>
        <p:spPr>
          <a:xfrm>
            <a:off x="548640" y="6537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548640" y="6583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DunaFlow · MDR Advocacia</a:t>
            </a:r>
            <a:endParaRPr lang="en-US" sz="900" dirty="0"/>
          </a:p>
        </p:txBody>
      </p:sp>
      <p:sp>
        <p:nvSpPr>
          <p:cNvPr id="39" name="Text 30"/>
          <p:cNvSpPr/>
          <p:nvPr/>
        </p:nvSpPr>
        <p:spPr>
          <a:xfrm>
            <a:off x="10149840" y="65836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55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EM UMA OLHADA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43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9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Componentes principais e integrações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53312"/>
            <a:ext cx="548640" cy="54864"/>
          </a:xfrm>
          <a:prstGeom prst="rect">
            <a:avLst/>
          </a:prstGeom>
          <a:solidFill>
            <a:srgbClr val="1E7BFF"/>
          </a:solidFill>
          <a:ln w="12700">
            <a:solidFill>
              <a:srgbClr val="1E7B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874520"/>
            <a:ext cx="1106424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874520"/>
            <a:ext cx="128016" cy="118872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194560"/>
            <a:ext cx="548640" cy="5486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91640" y="2011680"/>
            <a:ext cx="978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19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Experiência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691640" y="2441448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· TypeScript · Vite · shadcn/ui · Tailwind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3291840"/>
            <a:ext cx="1106424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48640" y="3291840"/>
            <a:ext cx="128016" cy="1188720"/>
          </a:xfrm>
          <a:prstGeom prst="rect">
            <a:avLst/>
          </a:prstGeom>
          <a:solidFill>
            <a:srgbClr val="0A1940"/>
          </a:solidFill>
          <a:ln w="12700">
            <a:solidFill>
              <a:srgbClr val="0A1940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611880"/>
            <a:ext cx="548640" cy="5486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691640" y="3429000"/>
            <a:ext cx="978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19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Núcleo operacional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1691640" y="3858768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(Python 3.10) · PostgreSQL · SQLAlchemy · Alembic · APScheduler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48640" y="4709160"/>
            <a:ext cx="1106424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48640" y="4709160"/>
            <a:ext cx="128016" cy="1188720"/>
          </a:xfrm>
          <a:prstGeom prst="rect">
            <a:avLst/>
          </a:prstGeom>
          <a:solidFill>
            <a:srgbClr val="1558CC"/>
          </a:solidFill>
          <a:ln w="12700">
            <a:solidFill>
              <a:srgbClr val="1558CC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029200"/>
            <a:ext cx="548640" cy="5486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691640" y="4846320"/>
            <a:ext cx="978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19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Integrações e IA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1691640" y="5276088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One (REST + RPA/Playwright) · Claude Haiku 4.5 (Batch API) · DataJud (CNJ) · DJEN / Comunica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548640" y="6172200"/>
            <a:ext cx="11064240" cy="347472"/>
          </a:xfrm>
          <a:prstGeom prst="rect">
            <a:avLst/>
          </a:prstGeom>
          <a:solidFill>
            <a:srgbClr val="BFD7FF"/>
          </a:solidFill>
          <a:ln w="12700">
            <a:solidFill>
              <a:srgbClr val="BFD7FF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548640" y="6172200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A19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em Coolify · Docker Compose · observabilidade estruturada em logs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548640" y="6537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548640" y="6583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DunaFlow · MDR Advocacia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10149840" y="65836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55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ONDE ESTAMOS INDO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43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9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Próximos passos do 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53312"/>
            <a:ext cx="548640" cy="54864"/>
          </a:xfrm>
          <a:prstGeom prst="rect">
            <a:avLst/>
          </a:prstGeom>
          <a:solidFill>
            <a:srgbClr val="1E7BFF"/>
          </a:solidFill>
          <a:ln w="12700">
            <a:solidFill>
              <a:srgbClr val="1E7B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83080"/>
            <a:ext cx="1106424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783080"/>
            <a:ext cx="822960" cy="749808"/>
          </a:xfrm>
          <a:prstGeom prst="rect">
            <a:avLst/>
          </a:prstGeom>
          <a:solidFill>
            <a:srgbClr val="0A1940"/>
          </a:solidFill>
          <a:ln w="12700">
            <a:solidFill>
              <a:srgbClr val="0A19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783080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7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554480" y="1856232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Ampliar a régua de maturidade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554480" y="2167128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Incorporar movimentos processuais críticos e prazos sugeridos.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2670048"/>
            <a:ext cx="1106424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2670048"/>
            <a:ext cx="822960" cy="749808"/>
          </a:xfrm>
          <a:prstGeom prst="rect">
            <a:avLst/>
          </a:prstGeom>
          <a:solidFill>
            <a:srgbClr val="0A1940"/>
          </a:solidFill>
          <a:ln w="12700">
            <a:solidFill>
              <a:srgbClr val="0A19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670048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7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554480" y="2743200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Expandir as classes detectadas por IA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554480" y="3054096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 dos embargos e agravos, alcançar execuções fiscais, tutelas e recursos especiais.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1106424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" y="3557016"/>
            <a:ext cx="822960" cy="749808"/>
          </a:xfrm>
          <a:prstGeom prst="rect">
            <a:avLst/>
          </a:prstGeom>
          <a:solidFill>
            <a:srgbClr val="0A1940"/>
          </a:solidFill>
          <a:ln w="12700">
            <a:solidFill>
              <a:srgbClr val="0A19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557016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7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1554480" y="3630168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Ampliar o painel de riscos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554480" y="3941064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o dashboard atual (KPIs, funil, velocidade), consolidar publicações órfãs, pastas em regressão e prazos em janela crítica.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443984"/>
            <a:ext cx="1106424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4443984"/>
            <a:ext cx="822960" cy="749808"/>
          </a:xfrm>
          <a:prstGeom prst="rect">
            <a:avLst/>
          </a:prstGeom>
          <a:solidFill>
            <a:srgbClr val="0A1940"/>
          </a:solidFill>
          <a:ln w="12700">
            <a:solidFill>
              <a:srgbClr val="0A194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4443984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7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1554480" y="4517136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Auto-sugestão de responsável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554480" y="4828032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histórico do Legal One para propor o advogado responsável da tarefa.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" y="5330952"/>
            <a:ext cx="1106424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48640" y="5330952"/>
            <a:ext cx="822960" cy="749808"/>
          </a:xfrm>
          <a:prstGeom prst="rect">
            <a:avLst/>
          </a:prstGeom>
          <a:solidFill>
            <a:srgbClr val="0A1940"/>
          </a:solidFill>
          <a:ln w="12700">
            <a:solidFill>
              <a:srgbClr val="0A194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533095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7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1554480" y="5404104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públicas internas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554480" y="5715000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endpoints seguros para que outras áreas consumam dados consolidados.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48640" y="6537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6583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DunaFlow · MDR Advocacia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149840" y="65836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55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 COMERCIAL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43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9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Planos por volume de publicações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53312"/>
            <a:ext cx="548640" cy="54864"/>
          </a:xfrm>
          <a:prstGeom prst="rect">
            <a:avLst/>
          </a:prstGeom>
          <a:solidFill>
            <a:srgbClr val="1E7BFF"/>
          </a:solidFill>
          <a:ln w="12700">
            <a:solidFill>
              <a:srgbClr val="1E7B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08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SaaS sob medida para escritórios de porte (30+ advogados) — implementação única + mensalidade indexada ao volume efetivo de publicações processadas.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611880" cy="41605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2103120"/>
            <a:ext cx="3611880" cy="109728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377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19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Starter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31520" y="288036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2.000 publicações/mês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329184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B7A7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R$ 3.500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731520" y="3840480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mês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005840" y="4114800"/>
            <a:ext cx="26974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2062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9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R$ 15.000 de implementação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77240" y="4617720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050" dirty="0">
                <a:solidFill>
                  <a:srgbClr val="0A19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Triagem de publicações com IA (Claude Haiku 4.5)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050" dirty="0">
                <a:solidFill>
                  <a:srgbClr val="0A19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Monitoramento DJEN + DataJud (CNJ)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050" dirty="0">
                <a:solidFill>
                  <a:srgbClr val="0A19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Detecção de embargos e agravos em órfãs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050" dirty="0">
                <a:solidFill>
                  <a:srgbClr val="0A19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RPA agendado sobre o Legal One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050" dirty="0">
                <a:solidFill>
                  <a:srgbClr val="0A19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Suporte em horário comercial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25112" y="2103120"/>
            <a:ext cx="3611880" cy="4160520"/>
          </a:xfrm>
          <a:prstGeom prst="rect">
            <a:avLst/>
          </a:prstGeom>
          <a:solidFill>
            <a:srgbClr val="0A1940"/>
          </a:solidFill>
          <a:ln w="25400">
            <a:solidFill>
              <a:srgbClr val="1E7BFF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25112" y="2103120"/>
            <a:ext cx="3611880" cy="109728"/>
          </a:xfrm>
          <a:prstGeom prst="rect">
            <a:avLst/>
          </a:prstGeom>
          <a:solidFill>
            <a:srgbClr val="1E7BFF"/>
          </a:solidFill>
          <a:ln w="12700">
            <a:solidFill>
              <a:srgbClr val="1E7B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79492" y="1901952"/>
            <a:ext cx="2103120" cy="384048"/>
          </a:xfrm>
          <a:prstGeom prst="rect">
            <a:avLst/>
          </a:prstGeom>
          <a:solidFill>
            <a:srgbClr val="1E7BFF"/>
          </a:solidFill>
          <a:ln w="12700">
            <a:solidFill>
              <a:srgbClr val="1E7B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79492" y="190195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0A19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RECOMENDADO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07992" y="2377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4507992" y="288036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8.000 publicações/mês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07992" y="329184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7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R$ 6.900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4507992" y="3840480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mês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782312" y="4114800"/>
            <a:ext cx="2697480" cy="0"/>
          </a:xfrm>
          <a:prstGeom prst="line">
            <a:avLst/>
          </a:prstGeom>
          <a:noFill/>
          <a:ln w="9525">
            <a:solidFill>
              <a:srgbClr val="1558C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07992" y="42062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R$ 25.000 de implementação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53712" y="4617720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do Starter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5 RPAs sob medida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 e filtros customizados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de resposta em 8 horas úteis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Relatórios mensais de volume e economia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101584" y="2103120"/>
            <a:ext cx="3611880" cy="41605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101584" y="2103120"/>
            <a:ext cx="3611880" cy="109728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84464" y="2377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19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Enterprise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8284464" y="288036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ilimitado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284464" y="320040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 de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284464" y="34290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B7A7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R$ 12.000</a:t>
            </a:r>
            <a:endParaRPr lang="en-US" sz="2800" dirty="0"/>
          </a:p>
        </p:txBody>
      </p:sp>
      <p:sp>
        <p:nvSpPr>
          <p:cNvPr id="32" name="Text 30"/>
          <p:cNvSpPr/>
          <p:nvPr/>
        </p:nvSpPr>
        <p:spPr>
          <a:xfrm>
            <a:off x="8284464" y="3931920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mês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8558784" y="4114800"/>
            <a:ext cx="26974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284464" y="42062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9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desde R$ 45.000 de implementação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330184" y="4617720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050" dirty="0">
                <a:solidFill>
                  <a:srgbClr val="0A19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do Pro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050" dirty="0">
                <a:solidFill>
                  <a:srgbClr val="0A19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RPAs ilimitados e filas prioritárias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050" dirty="0">
                <a:solidFill>
                  <a:srgbClr val="0A19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de 4 horas úteis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050" dirty="0">
                <a:solidFill>
                  <a:srgbClr val="0A19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CSM dedicado + treinamentos recorrentes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050" dirty="0">
                <a:solidFill>
                  <a:srgbClr val="0A19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SSO, integrações custom e ambiente dedicado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48640" y="626364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mínimo de 12 meses · reajuste anual por IPCA · custo de IA (Claude Haiku 4.5 via Batch API) já incluso · Enterprise com ambiente dedicado opcional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48640" y="6537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8640" y="6583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DunaFlow · MDR Advocacia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149840" y="65836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55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ISSO SE PAGA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43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9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Retorno sobre o investimento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53312"/>
            <a:ext cx="548640" cy="54864"/>
          </a:xfrm>
          <a:prstGeom prst="rect">
            <a:avLst/>
          </a:prstGeom>
          <a:solidFill>
            <a:srgbClr val="1E7BFF"/>
          </a:solidFill>
          <a:ln w="12700">
            <a:solidFill>
              <a:srgbClr val="1E7B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087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DunaFlow libera horas de advogado, reduz exposição a perdas de prazo e transforma publicações órfãs em operação ativa. A mensalidade se paga em poucas semanas de uso efetivo.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240280"/>
            <a:ext cx="361188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2240280"/>
            <a:ext cx="109728" cy="192024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51460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EA5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20–40h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777240" y="342900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de triagem devolvidas ao time por mês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25112" y="2240280"/>
            <a:ext cx="361188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25112" y="2240280"/>
            <a:ext cx="109728" cy="1920240"/>
          </a:xfrm>
          <a:prstGeom prst="rect">
            <a:avLst/>
          </a:prstGeom>
          <a:solidFill>
            <a:srgbClr val="D65A4B"/>
          </a:solidFill>
          <a:ln w="12700">
            <a:solidFill>
              <a:srgbClr val="D65A4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53712" y="251460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65A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R$ 50k+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4553712" y="342900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Exposição típica de um único embargo perdido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01584" y="2240280"/>
            <a:ext cx="361188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101584" y="2240280"/>
            <a:ext cx="109728" cy="1920240"/>
          </a:xfrm>
          <a:prstGeom prst="rect">
            <a:avLst/>
          </a:prstGeom>
          <a:solidFill>
            <a:srgbClr val="1558CC"/>
          </a:solidFill>
          <a:ln w="12700">
            <a:solidFill>
              <a:srgbClr val="1558C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30184" y="251460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558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1–2 meses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8330184" y="342900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 esperado no plano Pro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434840"/>
            <a:ext cx="11064240" cy="1874520"/>
          </a:xfrm>
          <a:prstGeom prst="rect">
            <a:avLst/>
          </a:prstGeom>
          <a:solidFill>
            <a:srgbClr val="0A1940"/>
          </a:solidFill>
          <a:ln w="12700">
            <a:solidFill>
              <a:srgbClr val="0A1940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8640" y="4434840"/>
            <a:ext cx="11064240" cy="73152"/>
          </a:xfrm>
          <a:prstGeom prst="rect">
            <a:avLst/>
          </a:prstGeom>
          <a:solidFill>
            <a:srgbClr val="1E7BFF"/>
          </a:solidFill>
          <a:ln w="12700">
            <a:solidFill>
              <a:srgbClr val="1E7BFF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663440"/>
            <a:ext cx="365760" cy="36576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280160" y="46177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conta por trás do preço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777240" y="5074920"/>
            <a:ext cx="10652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Capacidade bloqueada em triagem. </a:t>
            </a:r>
            <a:pPr indent="0" marL="0">
              <a:buNone/>
            </a:pPr>
            <a:r>
              <a:rPr lang="en-US" sz="1100" dirty="0">
                <a:solidFill>
                  <a:srgbClr val="DC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um custo-hora de R$ 200–400 por advogado, 30h/mês representam R$ 6k–12k em capacidade que hoje não gera honorário — valor que supera a mensalidade Pro.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77240" y="5486400"/>
            <a:ext cx="10652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evitado. </a:t>
            </a:r>
            <a:pPr indent="0" marL="0">
              <a:buNone/>
            </a:pPr>
            <a:r>
              <a:rPr lang="en-US" sz="1100" dirty="0">
                <a:solidFill>
                  <a:srgbClr val="DC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único embargo à execução ou agravo não identificado pode resultar em penhora indevida ou perda de instância — danos em ordem de grandeza acima do custo anual da plataforma.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777240" y="5897880"/>
            <a:ext cx="10652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Previsibilidade operacional. </a:t>
            </a:r>
            <a:pPr indent="0" marL="0">
              <a:buNone/>
            </a:pPr>
            <a:r>
              <a:rPr lang="en-US" sz="1100" dirty="0">
                <a:solidFill>
                  <a:srgbClr val="DC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tarefa com dono, status e prazo. Dashboards mostram volume processado, acurácia da IA e tempo médio de tratamento — base para decisões de capacity.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6537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48640" y="6583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DunaFlow · MDR Advocacia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10149840" y="65836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9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024360" y="0"/>
            <a:ext cx="164592" cy="6858000"/>
          </a:xfrm>
          <a:prstGeom prst="rect">
            <a:avLst/>
          </a:prstGeom>
          <a:solidFill>
            <a:srgbClr val="1E7BFF"/>
          </a:solidFill>
          <a:ln w="12700">
            <a:solidFill>
              <a:srgbClr val="1E7B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2743200" y="3657600"/>
            <a:ext cx="5486400" cy="5486400"/>
          </a:xfrm>
          <a:prstGeom prst="oval">
            <a:avLst/>
          </a:prstGeom>
          <a:solidFill>
            <a:srgbClr val="0A1940">
              <a:alpha val="45000"/>
            </a:srgbClr>
          </a:solidFill>
          <a:ln w="12700">
            <a:solidFill>
              <a:srgbClr val="0A194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828800" y="-1371600"/>
            <a:ext cx="4114800" cy="4114800"/>
          </a:xfrm>
          <a:prstGeom prst="oval">
            <a:avLst/>
          </a:prstGeom>
          <a:solidFill>
            <a:srgbClr val="0B7A79">
              <a:alpha val="20000"/>
            </a:srgbClr>
          </a:solidFill>
          <a:ln w="12700">
            <a:solidFill>
              <a:srgbClr val="0B7A79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777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1E7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PRÓXIMA CONVERSA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1325880"/>
            <a:ext cx="10789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DunaFlow não substitui o advogado.</a:t>
            </a:r>
            <a:endParaRPr lang="en-US" sz="36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Ele garante que </a:t>
            </a:r>
            <a:pPr indent="0" marL="0">
              <a:buNone/>
            </a:pPr>
            <a:r>
              <a:rPr lang="en-US" sz="3600" b="1" i="1" dirty="0">
                <a:solidFill>
                  <a:srgbClr val="1E7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tempo do advogado</a:t>
            </a:r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seja gasto onde só ele consegue estar.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822960" y="55321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DCE6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Quer ver a plataforma rodando?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2296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7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 de TI  ·  ti@mdradvocacia.com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64465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MDR Advocacia  ·  DunaFlow v1.4 · by DUNATECH  ·  Abril ·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MDR Advocacia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DunaFlow — Apresentação da Plataforma</dc:title>
  <dc:subject>PptxGenJS Presentation</dc:subject>
  <dc:creator>MDR Advocacia — TI</dc:creator>
  <cp:lastModifiedBy>MDR Advocacia — TI</cp:lastModifiedBy>
  <cp:revision>1</cp:revision>
  <dcterms:created xsi:type="dcterms:W3CDTF">2026-04-20T11:13:42Z</dcterms:created>
  <dcterms:modified xsi:type="dcterms:W3CDTF">2026-04-20T11:13:42Z</dcterms:modified>
</cp:coreProperties>
</file>