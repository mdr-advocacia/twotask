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943600" cy="5943600"/>
          </a:xfrm>
          <a:prstGeom prst="oval">
            <a:avLst/>
          </a:prstGeom>
          <a:solidFill>
            <a:srgbClr val="0A1940">
              <a:alpha val="45000"/>
            </a:srgbClr>
          </a:solidFill>
          <a:ln w="12700">
            <a:solidFill>
              <a:srgbClr val="0A194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474720"/>
            <a:ext cx="5029200" cy="5029200"/>
          </a:xfrm>
          <a:prstGeom prst="oval">
            <a:avLst/>
          </a:prstGeom>
          <a:solidFill>
            <a:srgbClr val="0B7A79">
              <a:alpha val="25000"/>
            </a:srgbClr>
          </a:solidFill>
          <a:ln w="12700">
            <a:solidFill>
              <a:srgbClr val="0B7A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ADVOCACIA  ·  PLATAFORMA INTERNA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Duna</a:t>
            </a:r>
            <a:pPr indent="0" marL="0">
              <a:buNone/>
            </a:pPr>
            <a:r>
              <a:rPr lang="en-US" sz="11000" b="1" i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DUNATECH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CE6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Orquestração jurídica inteligente sobre o Legal One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914400" cy="3657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5137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a fluxos jurídicos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542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+ automações agendadas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57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processual maduro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· 2026   ·   v1.5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29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plataforma · audiência interna e externa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trabalho jurídico não cabe mais no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 útil, um escritório de porte recebe centenas de publicações, movimentações e intimações. Triagem, classificação, cadastro e acompanhamento consomem horas dos times jurídico e administrativo — e, pior, o que escapa vira risco.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DunaFlow nasceu para absorver esse peso operacional, devolver tempo aos advogados e transformar dados brutos do Legal One em decisões acionáveis.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48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737360"/>
            <a:ext cx="73152" cy="914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745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sem pasta ficam órfãs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1228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perder prazo em processos que o escritório já conhece.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2743200"/>
            <a:ext cx="548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26480" y="2743200"/>
            <a:ext cx="73152" cy="914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8803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12280" y="2834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manual não escala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12280" y="3154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nova demanda briga por atenção humana escassa.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3749040"/>
            <a:ext cx="548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3749040"/>
            <a:ext cx="73152" cy="914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862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3840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se desencontram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81228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 partes, classes e assuntos incompletos ou inconsistentes.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26480" y="4754880"/>
            <a:ext cx="548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26480" y="4754880"/>
            <a:ext cx="73152" cy="914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8920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4846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Automatizações soltas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12280" y="5166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avulsos, sem orquestração, sem histórico, sem dono.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DunaFlow em uma frase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210312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interna que orquestra o ciclo de vida de tarefas, publicações e processos em torno do Legal One — combinando integrações diretas (REST/SOAP), automações robóticas (RPA) e Inteligência Artificial sob controle humano.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2960" y="5212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classifica, extrai e sugere — sempre com revisão humana opcional.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41605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4348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Orquestração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72000" y="5212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Lotes, agendamentos e filas: o trabalho chega pronto para o advogado.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41605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4348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Governança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321040" y="5212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auditável, cada custo rastreável, cada decisão reversível.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PANORAMA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Oito módulos, uma única base operacional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73736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737360"/>
            <a:ext cx="2743200" cy="73152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103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Criação em lote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tarefas por execução, com histórico auditável.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82696" y="173736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82696" y="1737360"/>
            <a:ext cx="2743200" cy="73152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1031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Classificação com IA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11296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+ Batch API a custo marginal.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173736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1737360"/>
            <a:ext cx="2743200" cy="73152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1031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Tratamento de publicações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91656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cadastra a tarefa no Legal One pelo advogado.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43416" y="173736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43416" y="1737360"/>
            <a:ext cx="2743200" cy="73152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10312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Prazos Iniciais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72016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da PI, classificação IA e prazo fatal por CPC 25.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02336" y="40690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02336" y="4069080"/>
            <a:ext cx="2743200" cy="73152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43484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093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Monitoramento processual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630936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DataJud e DJEN com régua de maturidade.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282696" y="40690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282696" y="4069080"/>
            <a:ext cx="2743200" cy="73152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43484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1129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Automações agendadas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3511296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em alta disponibilidade.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163056" y="40690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163056" y="4069080"/>
            <a:ext cx="2743200" cy="73152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4434840"/>
            <a:ext cx="548640" cy="5486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9165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Painéis e métricas</a:t>
            </a:r>
            <a:endParaRPr lang="en-US" sz="1500" dirty="0"/>
          </a:p>
        </p:txBody>
      </p:sp>
      <p:sp>
        <p:nvSpPr>
          <p:cNvPr id="39" name="Text 30"/>
          <p:cNvSpPr/>
          <p:nvPr/>
        </p:nvSpPr>
        <p:spPr>
          <a:xfrm>
            <a:off x="6391656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do que foi feito, está pendente e travou.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043416" y="40690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043416" y="4069080"/>
            <a:ext cx="2743200" cy="73152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4434840"/>
            <a:ext cx="548640" cy="54864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7201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Administração</a:t>
            </a:r>
            <a:endParaRPr lang="en-US" sz="1500" dirty="0"/>
          </a:p>
        </p:txBody>
      </p:sp>
      <p:sp>
        <p:nvSpPr>
          <p:cNvPr id="44" name="Text 34"/>
          <p:cNvSpPr/>
          <p:nvPr/>
        </p:nvSpPr>
        <p:spPr>
          <a:xfrm>
            <a:off x="9272016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Papéis, permissões, catálogos e auditoria.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#1 · INTELIGÊNCIA APLICADA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Classificação com IA + loop de feedback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lê cada publicação e sugere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categoria, subcategoria e vínculo de pasta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 justificativa. O advogado confirma ou corrige, e a plataforma aprende para o próximo ciclo.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383280"/>
            <a:ext cx="73152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383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33832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entram via DJEN/Legal 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41648"/>
            <a:ext cx="73152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4164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0416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40416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JSON schema → categoria sugerida.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00016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700016"/>
            <a:ext cx="73152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7000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7000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47000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 aprova, ajusta ou rejeita.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58384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58384"/>
            <a:ext cx="73152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358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53583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53583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alimenta ajustes no prompt.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737360"/>
            <a:ext cx="5029200" cy="438912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1737360"/>
            <a:ext cx="502920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 econômico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US$ 0,002</a:t>
            </a:r>
            <a:endParaRPr lang="en-US" sz="6400" dirty="0"/>
          </a:p>
        </p:txBody>
      </p:sp>
      <p:sp>
        <p:nvSpPr>
          <p:cNvPr id="31" name="Text 29"/>
          <p:cNvSpPr/>
          <p:nvPr/>
        </p:nvSpPr>
        <p:spPr>
          <a:xfrm>
            <a:off x="676656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publicação classificada — graças ao uso da Batch API e do Haiku 4.5.</a:t>
            </a:r>
            <a:endParaRPr lang="en-US" sz="14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4489704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059168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para lotes assíncronos</a:t>
            </a:r>
            <a:endParaRPr lang="en-US" sz="12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873752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059168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 a saída do modelo</a:t>
            </a:r>
            <a:endParaRPr lang="en-US" sz="12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257800"/>
            <a:ext cx="201168" cy="20116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059168" y="5202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prompts reduz tokens repetidos</a:t>
            </a:r>
            <a:endParaRPr lang="en-US" sz="12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641848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059168" y="55869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feedback versionado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1089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FEATURE DE DESTAQUE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Ouro em publicações sem pasta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Embargos à execução e agravos de instrumento identificados no que antes era ruído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57784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73152" cy="4343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costumava acontecer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Legal One recebe centenas de publicações por dia. Quando o número do processo não bate com nenhuma pasta cadastrada, a publicação vira "órfã": sem responsável, sem triagem, e muitas vezes descartada por falta de tempo.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invisível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dessa pilha havia casos em que o escritório tinha legítimo interesse: embargos à execução e agravos de instrumento vinculados a processos originários já patrocinados, mas cadastrados sob outro número.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057400"/>
            <a:ext cx="5349240" cy="434340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057400"/>
            <a:ext cx="534924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33172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4088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virada do DunaFlow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92240" y="29260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por IA passa a olhar também para o campo natureza do processo. Quando encontra padrões associados a embargos à execução ou agravos de instrumento em publicações sem pasta, o sistema sugere o vínculo ao processo originário — e devolve essas publicações à operação.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92240" y="5559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classes-chave detectadas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92240" y="5779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Embargos à execução · Agravos de instrumento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13816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138160" y="5559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publicações filtradas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138160" y="5779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órfã sai do radar sem revisão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8408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784080" y="5559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natureza + polo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784080" y="5779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reorganizada + link direto ao Legal One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#3 · INTELIGÊNCIA PROCESSUAL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Monitoramento com régua de maturidade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processo monitorado recebe uma etiqueta de maturidade em uma escala de 7 níveis — do "apenas número distribuído" até "inteligência processual completa". O DunaFlow evolui o processo pela régua conforme cruza dados do DataJud (CNJ), DJEN e Legal One — inclusive extraindo CNJ do texto em publicações sem pasta vinculada.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10642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46120"/>
            <a:ext cx="7903029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7775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7775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1703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8381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8381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2309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8986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898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22914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79592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0198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0198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84126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0803" y="3127248"/>
            <a:ext cx="402336" cy="402336"/>
          </a:xfrm>
          <a:prstGeom prst="oval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0803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64731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21409" y="3127248"/>
            <a:ext cx="402336" cy="402336"/>
          </a:xfrm>
          <a:prstGeom prst="oval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21409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45337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297680"/>
            <a:ext cx="73152" cy="21031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462272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887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oficiais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868680" y="4846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DataJud (CNJ)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classe, assunto, movimentos e partes oficiais.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DJEN / Comunica (CNJ)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e intimações eletrônicas.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One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pastas, partes, compromissos e status do escritório.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217920" y="42976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17920" y="4297680"/>
            <a:ext cx="73152" cy="210312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462272"/>
            <a:ext cx="320040" cy="3200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8580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usuário ganha</a:t>
            </a:r>
            <a:endParaRPr lang="en-US" sz="1700" dirty="0"/>
          </a:p>
        </p:txBody>
      </p:sp>
      <p:sp>
        <p:nvSpPr>
          <p:cNvPr id="38" name="Text 34"/>
          <p:cNvSpPr/>
          <p:nvPr/>
        </p:nvSpPr>
        <p:spPr>
          <a:xfrm>
            <a:off x="6537960" y="48463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do nível de conhecimento sobre cada processo.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objetiva: o que está pronto para atuar e o que precisa de dado.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alertas de prazo e sugestões automáticas.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consolidado — o processo nunca regride de nível sem razão.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#4 · EXECUÇÃO AUTÔNOMA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Automações agendadas + RPA no Legal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53212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4617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interna (APScheduler)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recorrentes rodam sozinhas, com histórico e tolerância a falhas: a plataforma acorda, executa, registra e avisa.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429000"/>
            <a:ext cx="502920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661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429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DataJud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26080" y="3429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classes, assuntos e movimentos.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68680" y="4114800"/>
            <a:ext cx="502920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1148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DJEN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926080" y="41148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diária por publicações vinculadas.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68680" y="4800600"/>
            <a:ext cx="502920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377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800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em lote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926080" y="4800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publicações não tratadas e envia ao Haiku 4.5.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68680" y="5486400"/>
            <a:ext cx="502920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6235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54864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saúde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2926080" y="5486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maintenance: filas, logs, caches.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217920" y="1737360"/>
            <a:ext cx="539496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217920" y="1737360"/>
            <a:ext cx="73152" cy="461772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920240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49440" y="1874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RPA sobre Legal One (Playwright)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6537960" y="2468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há API, o robô faz o trabalho manual: navega o Legal One, cadastra tarefas, anexa publicações e atualiza status — no ritmo que o escritório precisa.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703320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5800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automático de tarefas</a:t>
            </a:r>
            <a:endParaRPr lang="en-US" sz="13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270248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58000" y="4178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de publicação à pasta</a:t>
            </a:r>
            <a:endParaRPr lang="en-US" sz="13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83717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58000" y="47457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andamentos</a:t>
            </a:r>
            <a:endParaRPr lang="en-US" sz="13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5404104"/>
            <a:ext cx="256032" cy="25603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858000" y="5312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segura em caso de falha</a:t>
            </a:r>
            <a:endParaRPr lang="en-US" sz="1300" dirty="0"/>
          </a:p>
        </p:txBody>
      </p:sp>
      <p:sp>
        <p:nvSpPr>
          <p:cNvPr id="39" name="Shape 27"/>
          <p:cNvSpPr/>
          <p:nvPr/>
        </p:nvSpPr>
        <p:spPr>
          <a:xfrm>
            <a:off x="6537960" y="5833872"/>
            <a:ext cx="4892040" cy="438912"/>
          </a:xfrm>
          <a:prstGeom prst="rect">
            <a:avLst/>
          </a:prstGeom>
          <a:solidFill>
            <a:srgbClr val="BFD7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6537960" y="583387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execução do robô é auditável e rastreável por ID.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MUDOU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concretos da plataforma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783080"/>
            <a:ext cx="2697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" y="1783080"/>
            <a:ext cx="269748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574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US$ 0,002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68096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publicação classificada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8416" y="1783080"/>
            <a:ext cx="2697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28416" y="1783080"/>
            <a:ext cx="269748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57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273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níveis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602736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régua de maturidade processual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63056" y="1783080"/>
            <a:ext cx="2697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1783080"/>
            <a:ext cx="269748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0574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737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6437376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automações sem intervenção humana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997696" y="1783080"/>
            <a:ext cx="2697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97696" y="1783080"/>
            <a:ext cx="269748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0574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1.000s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9272016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tarefas criadas em lote por execução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069080"/>
            <a:ext cx="11064240" cy="228600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8640" y="4069080"/>
            <a:ext cx="1106424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os ganhos que não aparecem em tabela</a:t>
            </a:r>
            <a:endParaRPr lang="en-US" sz="2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8463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retrabalho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822960" y="5257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Classificação, vínculo e cadastro viram um único fluxo revisado, com retry individual em caso de falha.</a:t>
            </a:r>
            <a:endParaRPr lang="en-US" sz="12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48463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463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Resgate de processos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480560" y="5257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Embargos, agravos e CNJs extraídos do texto voltam à operação ativa.</a:t>
            </a:r>
            <a:endParaRPr lang="en-US" sz="12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84632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5039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executivo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138160" y="5257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funil e velocidade em tempo real — o que foi feito, o que pendurou e onde travou.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PRODUTIVIDADE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pessoas × 1.000 publicações/dia: o que muda com DunaFlow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Cenário-base: uma equipe dedicada de 10 pessoas lê e classifica 1.000 publicações/dia. Com o DunaFlow, o mesmo volume é tratado por uma fração do time — ou o mesmo time passa a dar conta de muito mais.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406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5440680" cy="50292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· TRIAGEM MANUAL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dedicada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pessoas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por pessoa/dia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3182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humano por publicação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3529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~3–5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877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total/dia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60520" y="38770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 pub.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2148840"/>
            <a:ext cx="54406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148840"/>
            <a:ext cx="5440680" cy="50292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402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DUNAFLOW · IA + AUTOMAÇÃO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dedicada (revisão HITL)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pessoas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por pessoa/dia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0" y="3182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humano por publicação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0" y="3529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~5–10 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877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total/dia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0" y="38770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5.000+ pub.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11064240" cy="210312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343400"/>
            <a:ext cx="1106424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formas de capturar o ganho</a:t>
            </a:r>
            <a:endParaRPr lang="en-US" sz="18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983480"/>
            <a:ext cx="384048" cy="38404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80160" y="5001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REALOCAÇÃO DE TIME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" y="54406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FTEs liberados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777240" y="6035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volume (1.000 pub./dia) passa a ser processado por uma dupla em revisão HITL. Os 8 advogados liberados voltam ao jurídico de alto valor.</a:t>
            </a:r>
            <a:endParaRPr lang="en-US" sz="10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983480"/>
            <a:ext cx="384048" cy="38404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858000" y="5001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CAPACIDADE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355080" y="54406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 </a:t>
            </a:r>
            <a:pPr indent="0" marL="0">
              <a:buNone/>
            </a:pPr>
            <a:r>
              <a:rPr lang="en-US" sz="14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com a mesma equipe</a:t>
            </a:r>
            <a:endParaRPr lang="en-US" sz="4000" dirty="0"/>
          </a:p>
        </p:txBody>
      </p:sp>
      <p:sp>
        <p:nvSpPr>
          <p:cNvPr id="38" name="Text 34"/>
          <p:cNvSpPr/>
          <p:nvPr/>
        </p:nvSpPr>
        <p:spPr>
          <a:xfrm>
            <a:off x="6355080" y="6035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Mantendo os 10, a capacidade sobe de 1.000 para ~5.000 publicações/dia sem contratar — acurácia IA de 85–90% com revisão humana só onde importa.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UMA OLHADA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Componentes principais e integrações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28016" cy="1188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116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Experiência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44144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shadcn/ui · Tailwind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291840"/>
            <a:ext cx="128016" cy="118872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118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4290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Núcleo operacional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691640" y="385876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3.10) · PostgreSQL · SQLAlchemy · Alembic · APScheduler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4709160"/>
            <a:ext cx="128016" cy="1188720"/>
          </a:xfrm>
          <a:prstGeom prst="rect">
            <a:avLst/>
          </a:prstGeom>
          <a:solidFill>
            <a:srgbClr val="1558CC"/>
          </a:solidFill>
          <a:ln w="12700">
            <a:solidFill>
              <a:srgbClr val="1558C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8463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Integrações e IA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691640" y="527608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One (REST + RPA/Playwright) · Claude Haiku 4.5 (Batch API) · DataJud (CNJ) · DJEN / Comunica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6172200"/>
            <a:ext cx="11064240" cy="347472"/>
          </a:xfrm>
          <a:prstGeom prst="rect">
            <a:avLst/>
          </a:prstGeom>
          <a:solidFill>
            <a:srgbClr val="BFD7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61722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Coolify · Docker Compose · observabilidade estruturada em logs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ESTAMOS INDO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 do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8562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régua de maturidade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16712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movimentos processuais críticos e prazos sugeridos.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70048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7004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7432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as classes detectadas por 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0540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dos embargos e agravos, alcançar execuções fiscais, tutelas e recursos especiais.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57016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5701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63016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painel de riscos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94106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dashboard atual (KPIs, funil, velocidade), consolidar publicações órfãs, pastas em regressão e prazos em janela crítica.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43984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4398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451713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Auto-sugestão de responsável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28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histórico do Legal One para propor o advogado responsável da tarefa.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330952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330952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33095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554480" y="540410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públicas internas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57150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endpoints seguros para que outras áreas consumam dados consolidados.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Planos por volume de publicações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SaaS sob medida para escritórios de porte (30+ advogados) — implementação única + mensalidade indexada ao volume efetivo de publicações processadas.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361188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2.000 publicações/mês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R$ 3.500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4114800"/>
            <a:ext cx="2697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R$ 15.000 de implementação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publicações com IA (Claude Haiku 4.5)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DJEN + DataJud (CNJ)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embargos e agravos em órfãs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RPA agendado sobre o Legal One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em horário comercial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5112" y="2103120"/>
            <a:ext cx="3611880" cy="4160520"/>
          </a:xfrm>
          <a:prstGeom prst="rect">
            <a:avLst/>
          </a:prstGeom>
          <a:solidFill>
            <a:srgbClr val="0A1940"/>
          </a:solidFill>
          <a:ln w="25400">
            <a:solidFill>
              <a:srgbClr val="1E7B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5112" y="2103120"/>
            <a:ext cx="3611880" cy="109728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9492" y="1901952"/>
            <a:ext cx="2103120" cy="384048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492" y="1901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RECOMENDADO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07992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07992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8.000 publicações/mês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32918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R$ 6.900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07992" y="38404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82312" y="4114800"/>
            <a:ext cx="2697480" cy="0"/>
          </a:xfrm>
          <a:prstGeom prst="line">
            <a:avLst/>
          </a:prstGeom>
          <a:noFill/>
          <a:ln w="9525">
            <a:solidFill>
              <a:srgbClr val="155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R$ 25.000 de implementação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53712" y="4617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Starter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RPAs sob medida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filtros customizados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resposta em 8 horas úteis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mensais de volume e economia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01584" y="2103120"/>
            <a:ext cx="36118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1584" y="2103120"/>
            <a:ext cx="361188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284464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ilimitado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84464" y="32004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84464" y="3429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R$ 12.000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284464" y="39319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58784" y="4114800"/>
            <a:ext cx="2697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desde R$ 45.000 de implementação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30184" y="4617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Pro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RPAs ilimitados e filas prioritárias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4 horas úteis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dedicado + treinamentos recorrentes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integrações custom e ambiente dedicado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2636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mínimo de 12 meses · reajuste anual por IPCA · custo de IA (Claude Haiku 4.5 via Batch API) já incluso · Enterprise com ambiente dedicado opcional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SE PAGA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Retorno sobre o investimento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DunaFlow libera horas de advogado, reduz exposição a perdas de prazo e transforma publicações órfãs em operação ativa. A mensalidade se paga em poucas semanas de uso efetivo.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611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40280"/>
            <a:ext cx="109728" cy="19202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A5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20–40h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triagem devolvidas ao time por mês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240280"/>
            <a:ext cx="3611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2240280"/>
            <a:ext cx="109728" cy="192024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R$ 50k+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53712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típica de um único embargo perdido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240280"/>
            <a:ext cx="3611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2240280"/>
            <a:ext cx="109728" cy="1920240"/>
          </a:xfrm>
          <a:prstGeom prst="rect">
            <a:avLst/>
          </a:prstGeom>
          <a:solidFill>
            <a:srgbClr val="1558CC"/>
          </a:solidFill>
          <a:ln w="12700">
            <a:solidFill>
              <a:srgbClr val="155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 meses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30184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esperado no plano Pro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64240" cy="187452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434840"/>
            <a:ext cx="1106424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6344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por trás do preço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77240" y="5074920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bloqueada em triagem. </a:t>
            </a:r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um custo-hora de R$ 200–400 por advogado, 30h/mês representam R$ 6k–12k em capacidade que hoje não gera honorário — valor que supera a mensalidade Pro.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5486400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evitado. </a:t>
            </a:r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embargo à execução ou agravo não identificado pode resultar em penhora indevida ou perda de instância — danos em ordem de grandeza acima do custo anual da plataforma.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" y="5897880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 operacional. </a:t>
            </a:r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com dono, status e prazo. Dashboards mostram volume processado, acurácia da IA e tempo médio de tratamento — base para decisões de capacity.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oval">
            <a:avLst/>
          </a:prstGeom>
          <a:solidFill>
            <a:srgbClr val="0A1940">
              <a:alpha val="45000"/>
            </a:srgbClr>
          </a:solidFill>
          <a:ln w="12700">
            <a:solidFill>
              <a:srgbClr val="0A194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-1371600"/>
            <a:ext cx="4114800" cy="4114800"/>
          </a:xfrm>
          <a:prstGeom prst="oval">
            <a:avLst/>
          </a:prstGeom>
          <a:solidFill>
            <a:srgbClr val="0B7A79">
              <a:alpha val="20000"/>
            </a:srgbClr>
          </a:solidFill>
          <a:ln w="12700">
            <a:solidFill>
              <a:srgbClr val="0B7A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PRÓXIMA CONVERSA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10789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DunaFlow não substitui o advogado.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 garante que </a:t>
            </a:r>
            <a:pPr indent="0" marL="0">
              <a:buNone/>
            </a:pPr>
            <a:r>
              <a:rPr lang="en-US" sz="3600" b="1" i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tempo do advogado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seja gasto onde só ele consegue estar.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CE6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 ver a plataforma rodando?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  ·  ti@mdradvocacia.com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Advocacia  ·  DunaFlow v1.5 · by DUNATECH  ·  Abril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MDR Advocacia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DunaFlow — Apresentação da Plataforma</dc:title>
  <dc:subject>PptxGenJS Presentation</dc:subject>
  <dc:creator>MDR Advocacia — TI</dc:creator>
  <cp:lastModifiedBy>MDR Advocacia — TI</cp:lastModifiedBy>
  <cp:revision>1</cp:revision>
  <dcterms:created xsi:type="dcterms:W3CDTF">2026-04-24T12:49:12Z</dcterms:created>
  <dcterms:modified xsi:type="dcterms:W3CDTF">2026-04-24T12:49:12Z</dcterms:modified>
</cp:coreProperties>
</file>