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0" kern="0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DO OPERADOR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Duna</a:t>
            </a:r>
            <a:pPr indent="0" marL="0">
              <a:buNone/>
            </a:pPr>
            <a:r>
              <a:rPr lang="en-US" sz="7200" b="1" i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Módulo de Publicações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triar, classificar e agendar publicações no dia-a-dia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663440"/>
            <a:ext cx="1097280" cy="36576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paralegais e estagiários de triagem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EA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 Advocacia  ·  HIT.LAB  ·  Abril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você vai aprender hoje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sistema funciona (em 30 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5146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Acessando o DunaFlow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2004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principal de Publicações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8862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Entendendo os status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4572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Fazendo uma busca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52578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Revisando uma publicação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20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18288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Agendando uma tarefa no Legal One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2514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58000" y="25146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Corrigindo a IA (feedback)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72200" y="3200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58000" y="32004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 sem processo vinculado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72200" y="3886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58000" y="38862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redobrada: embargos, audiências e prazos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72200" y="4572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858000" y="4572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Dicas de ouro para o dia-a-dia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72200" y="5257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58000" y="52578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pedir ajuda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" y="58521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89320"/>
            <a:ext cx="274320" cy="27432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143000" y="58521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aproximada: 30 minutos  ·  Sem exercícios — foco em conteúdo prático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Treinamento do Operador · Módulo de Publicações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30 SEGUNDOS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 DunaFlow trabalha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37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IA classifica. </a:t>
            </a:r>
            <a:pPr algn="ctr" indent="0" marL="0">
              <a:buNone/>
            </a:pPr>
            <a:r>
              <a:rPr lang="en-US" sz="1800" b="1" i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 </a:t>
            </a:r>
            <a:pPr algn="ctr" indent="0" marL="0">
              <a:buNone/>
            </a:pPr>
            <a:r>
              <a:rPr lang="en-US" sz="1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confirma ou corrige.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2057400" cy="2331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11580" y="3063240"/>
            <a:ext cx="731520" cy="731520"/>
          </a:xfrm>
          <a:prstGeom prst="ellipse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32461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931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DJEN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4389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 Oficial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3845052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07208" y="2788920"/>
            <a:ext cx="2057400" cy="2331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70148" y="3063240"/>
            <a:ext cx="731520" cy="731520"/>
          </a:xfrm>
          <a:prstGeom prst="ellipse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028" y="32461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44368" y="3931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DunaFlow busca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944368" y="4389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enriquece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3845052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65776" y="2788920"/>
            <a:ext cx="2057400" cy="2331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728716" y="3063240"/>
            <a:ext cx="731520" cy="731520"/>
          </a:xfrm>
          <a:prstGeom prst="ellipse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596" y="324612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02936" y="3931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classifica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5202936" y="4389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12 fases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processuais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464" y="3845052"/>
            <a:ext cx="182880" cy="18288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24344" y="2788920"/>
            <a:ext cx="2057400" cy="2331720"/>
          </a:xfrm>
          <a:prstGeom prst="roundRect">
            <a:avLst>
              <a:gd name="adj" fmla="val 4444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987284" y="3063240"/>
            <a:ext cx="731520" cy="7315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0164" y="3246120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461504" y="3931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 revisa</a:t>
            </a:r>
            <a:endParaRPr lang="en-US" sz="1500" dirty="0"/>
          </a:p>
        </p:txBody>
      </p:sp>
      <p:sp>
        <p:nvSpPr>
          <p:cNvPr id="29" name="Text 20"/>
          <p:cNvSpPr/>
          <p:nvPr/>
        </p:nvSpPr>
        <p:spPr>
          <a:xfrm>
            <a:off x="7461504" y="4389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confirma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classificação</a:t>
            </a:r>
            <a:endParaRPr lang="en-US" sz="11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0032" y="3845052"/>
            <a:ext cx="182880" cy="182880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9582912" y="2788920"/>
            <a:ext cx="2057400" cy="2331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10245852" y="3063240"/>
            <a:ext cx="731520" cy="731520"/>
          </a:xfrm>
          <a:prstGeom prst="ellipse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8732" y="3246120"/>
            <a:ext cx="365760" cy="36576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9720072" y="3931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One</a:t>
            </a:r>
            <a:endParaRPr lang="en-US" sz="1500" dirty="0"/>
          </a:p>
        </p:txBody>
      </p:sp>
      <p:sp>
        <p:nvSpPr>
          <p:cNvPr id="35" name="Text 24"/>
          <p:cNvSpPr/>
          <p:nvPr/>
        </p:nvSpPr>
        <p:spPr>
          <a:xfrm>
            <a:off x="9720072" y="4389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pronta</a:t>
            </a:r>
            <a:endParaRPr lang="en-US" sz="1100" dirty="0"/>
          </a:p>
        </p:txBody>
      </p:sp>
      <p:sp>
        <p:nvSpPr>
          <p:cNvPr id="36" name="Text 25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é o olho humano no meio do fluxo. A IA levanta a proposta, mas quem valida é quem entende o caso.</a:t>
            </a:r>
            <a:endParaRPr lang="en-US" sz="1200" dirty="0"/>
          </a:p>
        </p:txBody>
      </p:sp>
      <p:sp>
        <p:nvSpPr>
          <p:cNvPr id="37" name="Shape 26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8" name="Text 27"/>
          <p:cNvSpPr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Treinamento do Operador · Módulo de Publicações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entrar no DunaFlow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Abra o sistema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Digite o endereço do DunaFlow no navegador. Pergunte ao TI se não souber.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Faça login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566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seu e-mail corporativo da MDR e sua senha. Se esqueceu, contate o TI.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Vá para Publicações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4937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menu lateral, clique em "Publicações" para abrir o módulo.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1737360"/>
            <a:ext cx="5029200" cy="3749040"/>
          </a:xfrm>
          <a:prstGeom prst="rect">
            <a:avLst/>
          </a:prstGeom>
          <a:solidFill>
            <a:srgbClr val="E8EDF5"/>
          </a:solidFill>
          <a:ln w="19050">
            <a:solidFill>
              <a:srgbClr val="B8C3D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583680" y="3108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📷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58000" y="36118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login do DunaFlow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0" kern="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 INSERIR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58521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8E6"/>
          </a:solidFill>
          <a:ln w="6350">
            <a:solidFill>
              <a:srgbClr val="D97706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89320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43000" y="58521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aparecer erro de sessão expirada, é normal — basta fazer login de novo. O sistema protege sua conta.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Treinamento do Operador · Módulo de Publicações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PRINCIPAL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você vai passar a maior parte do dia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6858000" cy="4480560"/>
          </a:xfrm>
          <a:prstGeom prst="rect">
            <a:avLst/>
          </a:prstGeom>
          <a:solidFill>
            <a:srgbClr val="E8EDF5"/>
          </a:solidFill>
          <a:ln w="19050">
            <a:solidFill>
              <a:srgbClr val="B8C3D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3474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📷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cheia: página de Publicações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3891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0" kern="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 INSERIR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589520" y="17830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Contadores no topo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21305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Mostram quantas publicações estão em cada status: novas, classificadas, agendadas, com erro.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89520" y="2907792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29077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Filtros ao lado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período, escritório, status, categoria, com ou sem processo vinculado.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89520" y="4032504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4032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0" y="40325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Lista central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437997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aparecem as publicações agrupadas por processo. É sua área de trabalho principal.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89520" y="5157216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5157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0" y="51572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Histórico e lotes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55046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inferior: buscas recentes e progresso dos lotes de classificação pela IA.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Treinamento do Operador · Módulo de Publicações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cada badge significa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publicação tem um status que diz em que etapa ela está. Saber ler isso é o básico.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70662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240280"/>
            <a:ext cx="2249424" cy="438912"/>
          </a:xfrm>
          <a:prstGeom prst="roundRect">
            <a:avLst>
              <a:gd name="adj" fmla="val 50000"/>
            </a:avLst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0280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chegou, ainda não foi classificada pela IA. Aguarde ou dispare a classificação.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74136" y="1965960"/>
            <a:ext cx="270662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2736" y="2240280"/>
            <a:ext cx="2249424" cy="43891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240280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02736" y="283464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já analisou e propôs categoria + subcategoria. Sua vez: revisar e agendar.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9632" y="1965960"/>
            <a:ext cx="270662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28232" y="2240280"/>
            <a:ext cx="2249424" cy="43891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240280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28232" y="283464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foi criada no Legal One. Você já terminou essa publicação.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25128" y="1965960"/>
            <a:ext cx="270662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53728" y="2240280"/>
            <a:ext cx="2249424" cy="43891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53728" y="2240280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IGNORADO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253728" y="283464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descartou a publicação (irrelevante, duplicada na análise, etc.).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069080"/>
            <a:ext cx="270662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343400"/>
            <a:ext cx="2249424" cy="438912"/>
          </a:xfrm>
          <a:prstGeom prst="roundRect">
            <a:avLst>
              <a:gd name="adj" fmla="val 50000"/>
            </a:avLst>
          </a:prstGeom>
          <a:solidFill>
            <a:srgbClr val="D65A4B"/>
          </a:solidFill>
          <a:ln w="12700">
            <a:solidFill>
              <a:srgbClr val="D65A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343400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493776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falhou no processamento. Revise e tente reenviar. Se persistir, chame o TI.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74136" y="4069080"/>
            <a:ext cx="270662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02736" y="4343400"/>
            <a:ext cx="2249424" cy="43891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02736" y="4343400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SEM_PROVIDENCIA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02736" y="493776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foi lida mas não exige nenhuma ação (ex: aviso de mero trâmite).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9632" y="4069080"/>
            <a:ext cx="270662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28232" y="4343400"/>
            <a:ext cx="2249424" cy="43891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4343400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DESCARTADO_DUPLICADA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28232" y="493776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identificou que é a mesma publicação de outra do mesmo processo no mesmo dia.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25128" y="4069080"/>
            <a:ext cx="270662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253728" y="4343400"/>
            <a:ext cx="2249424" cy="43891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53728" y="4343400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DESCARTADO_OBSOLETA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53728" y="493776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é anterior ao cadastro do processo no Legal One — não se aplica.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Treinamento do Operador · Módulo de Publicações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1 · BUSCAR PUBLICAÇÕES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trazer publicações novas para o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" y="1783080"/>
            <a:ext cx="267004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57400"/>
            <a:ext cx="594360" cy="594360"/>
          </a:xfrm>
          <a:prstGeom prst="ellipse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27432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Clique em "Buscar novas"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329184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azul no topo da tela.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46704" y="1783080"/>
            <a:ext cx="267004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75304" y="2057400"/>
            <a:ext cx="594360" cy="594360"/>
          </a:xfrm>
          <a:prstGeom prst="ellipse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5304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75304" y="27432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Escolha o período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75304" y="329184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data início e data fim (ex: últimos 2 dias).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783080"/>
            <a:ext cx="267004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057400"/>
            <a:ext cx="594360" cy="594360"/>
          </a:xfrm>
          <a:prstGeom prst="ellipse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7432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Selecione o escritório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29184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 RN, MDR RJ ou todos — conforme seu escopo.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97696" y="1783080"/>
            <a:ext cx="267004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26296" y="2057400"/>
            <a:ext cx="594360" cy="594360"/>
          </a:xfrm>
          <a:prstGeom prst="ellipse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26296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26296" y="27432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Clique "Iniciar busca"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26296" y="329184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Aguarde a barra de progresso. Pode levar minutos.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6400800" cy="2057400"/>
          </a:xfrm>
          <a:prstGeom prst="rect">
            <a:avLst/>
          </a:prstGeom>
          <a:solidFill>
            <a:srgbClr val="E8EDF5"/>
          </a:solidFill>
          <a:ln w="19050">
            <a:solidFill>
              <a:srgbClr val="B8C3D6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48640" y="46405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📷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22960" y="51435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"Buscar novas publicações"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5549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0" kern="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 INSERIR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132320" y="4114800"/>
            <a:ext cx="4480560" cy="2057400"/>
          </a:xfrm>
          <a:prstGeom prst="roundRect">
            <a:avLst>
              <a:gd name="adj" fmla="val 4444"/>
            </a:avLst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4297680"/>
            <a:ext cx="365760" cy="36576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818120" y="4251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acontece depois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360920" y="47091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9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 consulta o DJEN e Legal One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9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IA classifica em lotes (pode demorar)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9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Publicações aparecem em "NOVO" → "CLASSIFICADO"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9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Você pode continuar outras tarefas enquanto isso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Treinamento do Operador · Módulo de Publicações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2 · REVISAR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observar ao abrir uma publicação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na linha da publicação para abrir os detalhes. </a:t>
            </a:r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painel aparece com tudo que a IA encontrou.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760720" cy="4206240"/>
          </a:xfrm>
          <a:prstGeom prst="rect">
            <a:avLst/>
          </a:prstGeom>
          <a:solidFill>
            <a:srgbClr val="E8EDF5"/>
          </a:solidFill>
          <a:ln w="19050">
            <a:solidFill>
              <a:srgbClr val="B8C3D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36118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📷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detalhes da publicação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0" kern="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 INSERIR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0" y="20116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2121408"/>
            <a:ext cx="283464" cy="2834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223760" y="2011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Texto original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223760" y="22860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saiu no Diário, na íntegra.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583680" y="2743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852928"/>
            <a:ext cx="283464" cy="2834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27432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CNJ do processo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223760" y="30175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único do processo (se houver vínculo).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583680" y="3474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358444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23760" y="34747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Categoria + subcategoria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223760" y="37490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processual sugerida pela IA (12 opções).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583680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315968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23760" y="42062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Confiança da IA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223760" y="448056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/ Média / Baixa — quanto menor, mais atenção.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583680" y="4937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5047488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223760" y="49377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Polo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223760" y="52120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(autor) ou Passivo (réu) — lado do cliente.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583680" y="5669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5779008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23760" y="56692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Prazo sugerido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223760" y="59436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Data-limite que a IA propõe (sempre confira).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Treinamento do Operador · Módulo de Publicações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3 · AGENDAR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Criar a tarefa no Legal 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737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Clique no botão "Agendar"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08483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ao abrir a publicação ou direto na lista.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2834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Revise os campos sugeridos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18211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da tarefa, subtipo, responsável e prazo — tudo pré-preenchido pela IA.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Ajuste se precisar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27939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 texto, troque o advogado responsável ou mude o prazo conforme necessário.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5029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Clique "Confirmar agendamento"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537667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Pronto. A tarefa é criada no Legal One com o vínculo da publicação.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1737360"/>
            <a:ext cx="5212080" cy="3383280"/>
          </a:xfrm>
          <a:prstGeom prst="rect">
            <a:avLst/>
          </a:prstGeom>
          <a:solidFill>
            <a:srgbClr val="E8EDF5"/>
          </a:solidFill>
          <a:ln w="19050">
            <a:solidFill>
              <a:srgbClr val="B8C3D6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400800" y="29260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📷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675120" y="34290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de agendamento de tarefa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3840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0" kern="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 INSERIR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525780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FEE4E2"/>
          </a:solidFill>
          <a:ln w="9525">
            <a:solidFill>
              <a:srgbClr val="D65A4B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40680"/>
            <a:ext cx="365760" cy="3657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040880" y="5349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5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prazo, sem agendamento.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040880" y="56692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campo de prazo estiver vazio, preencha antes de confirmar. Uma tarefa sem prazo não serve pro time.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Treinamento do Operador · Módulo de Publicações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4 · FEEDBACK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a IA erra, você corrige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0A1940"/>
          </a:solidFill>
          <a:ln w="12700">
            <a:solidFill>
              <a:srgbClr val="0A194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91640"/>
            <a:ext cx="10287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IA aprende com as suas correções. </a:t>
            </a:r>
            <a:pPr indent="0" marL="0">
              <a:buNone/>
            </a:pPr>
            <a:r>
              <a:rPr lang="en-US" sz="1400" i="1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ignore as classificações erradas — reporte.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8872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Encontrou classificação errada?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2880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era Sentença e a IA marcou como Tutela.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33192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88720" y="32735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Clique no ícone 👎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35935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linha ou no painel de detalhes da publicação.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0325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032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88720" y="39867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Escolha a categoria correta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43068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diálogo abre. Selecione a fase, subfase e polo certos.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7457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4745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88720" y="47000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Deixe uma nota (opcional)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88720" y="50200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por que a IA errou. Ajuda o time a melhorar o prompt.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545896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88720" y="54132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Salvar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88720" y="57332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correção vai pro histórico. Nas próximas buscas, a IA considera seu feedback.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583680" y="2606040"/>
            <a:ext cx="5029200" cy="3657600"/>
          </a:xfrm>
          <a:prstGeom prst="rect">
            <a:avLst/>
          </a:prstGeom>
          <a:solidFill>
            <a:srgbClr val="E8EDF5"/>
          </a:solidFill>
          <a:ln w="19050">
            <a:solidFill>
              <a:srgbClr val="B8C3D6"/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6583680" y="3931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📷</a:t>
            </a:r>
            <a:endParaRPr lang="en-US" sz="3200" dirty="0"/>
          </a:p>
        </p:txBody>
      </p:sp>
      <p:sp>
        <p:nvSpPr>
          <p:cNvPr id="30" name="Text 27"/>
          <p:cNvSpPr/>
          <p:nvPr/>
        </p:nvSpPr>
        <p:spPr>
          <a:xfrm>
            <a:off x="6858000" y="44348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 de feedback (thumbs-down)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858000" y="4846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0" kern="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 INSERIR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Treinamento do Operador · Módulo de Publicações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ESPECIAL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Publicações sem processo vinculado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Às vezes, uma publicação chega mas o processo ainda não está cadastrado no Legal One. Isso é normal — a triagem continua, só com um passo a mais de atenção.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492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240280"/>
            <a:ext cx="53492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3288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5146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identificar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3246120"/>
            <a:ext cx="82296" cy="82296"/>
          </a:xfrm>
          <a:prstGeom prst="ellipse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31546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"Sem processo vinculado" na linha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3749040"/>
            <a:ext cx="82296" cy="82296"/>
          </a:xfrm>
          <a:prstGeom prst="ellipse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6576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CNJ aparece vazio ou em cinza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4251960"/>
            <a:ext cx="82296" cy="82296"/>
          </a:xfrm>
          <a:prstGeom prst="ellipse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41605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está agrupada com outras do mesmo processo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63640" y="2240280"/>
            <a:ext cx="53492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63640" y="2240280"/>
            <a:ext cx="53492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532888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86600" y="25146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fazer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583680" y="3246120"/>
            <a:ext cx="82296" cy="82296"/>
          </a:xfrm>
          <a:prstGeom prst="ellipse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766560" y="31546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preenche a "natureza" (ex: Embargos à Execução)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583680" y="3749040"/>
            <a:ext cx="82296" cy="82296"/>
          </a:xfrm>
          <a:prstGeom prst="ellipse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766560" y="36576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isso para entender do que se trata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583680" y="4251960"/>
            <a:ext cx="82296" cy="82296"/>
          </a:xfrm>
          <a:prstGeom prst="ellipse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66560" y="41605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Agende como tarefa avulsa — o modal funciona igual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583680" y="4754880"/>
            <a:ext cx="82296" cy="82296"/>
          </a:xfrm>
          <a:prstGeom prst="ellipse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766560" y="46634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houver muitas sem CNJ, sinalize ao coordenador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48640" y="56692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89788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143000" y="56692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 sem processo podem ser cadastros pendentes — às vezes o time de cadastro ainda não processou. Se for recorrente do mesmo cliente, avise o coordenador para priorizar o cadastro.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Treinamento do Operador · Módulo de Publicações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REDOBRADA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Publicações que pedem cuidado extra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toda publicação é igual. Algumas têm consequências rápidas se você demorar. Sinais para NÃO passar batido: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128016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60320"/>
            <a:ext cx="640080" cy="640080"/>
          </a:xfrm>
          <a:prstGeom prst="ellipse">
            <a:avLst/>
          </a:prstGeom>
          <a:solidFill>
            <a:srgbClr val="F4F6FB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72491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Audiência marcada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37360" y="29260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traz data, hora e, às vezes, link virtual. Agende imediatamente. Se for para hoje ou amanhã, fale com o coordenador antes.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90488" y="219456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0488" y="2194560"/>
            <a:ext cx="128016" cy="1920240"/>
          </a:xfrm>
          <a:prstGeom prst="rect">
            <a:avLst/>
          </a:prstGeom>
          <a:solidFill>
            <a:srgbClr val="D65A4B"/>
          </a:solidFill>
          <a:ln w="12700">
            <a:solidFill>
              <a:srgbClr val="D65A4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56248" y="2560320"/>
            <a:ext cx="640080" cy="640080"/>
          </a:xfrm>
          <a:prstGeom prst="ellipse">
            <a:avLst/>
          </a:prstGeom>
          <a:solidFill>
            <a:srgbClr val="F4F6FB"/>
          </a:solidFill>
          <a:ln w="12700">
            <a:solidFill>
              <a:srgbClr val="D65A4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2491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79208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Embargos ou Agravos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379208" y="29260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no texto da publicação. São recursos do polo contrário com prazo curto. Não deixe para depois.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429768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4297680"/>
            <a:ext cx="128016" cy="1920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14400" y="4663440"/>
            <a:ext cx="640080" cy="640080"/>
          </a:xfrm>
          <a:prstGeom prst="ellipse">
            <a:avLst/>
          </a:prstGeom>
          <a:solidFill>
            <a:srgbClr val="F4F6FB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4828032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4572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Confiança Baixa da IA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737360" y="502920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não teve certeza da classificação. Você deve ler o texto com atenção e, se preciso, corrigir via feedback.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190488" y="429768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190488" y="4297680"/>
            <a:ext cx="128016" cy="1920240"/>
          </a:xfrm>
          <a:prstGeom prst="rect">
            <a:avLst/>
          </a:prstGeom>
          <a:solidFill>
            <a:srgbClr val="D65A4B"/>
          </a:solidFill>
          <a:ln w="12700">
            <a:solidFill>
              <a:srgbClr val="D65A4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556248" y="4663440"/>
            <a:ext cx="640080" cy="640080"/>
          </a:xfrm>
          <a:prstGeom prst="ellipse">
            <a:avLst/>
          </a:prstGeom>
          <a:solidFill>
            <a:srgbClr val="F4F6FB"/>
          </a:solidFill>
          <a:ln w="12700">
            <a:solidFill>
              <a:srgbClr val="D65A4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828032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79208" y="4572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Prazo curto detectado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7379208" y="502920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IA sugere prazo de 24h, 48h ou 72h, é porque há urgência. Confirme o prazo antes de agendar.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dúvida, pergunte. Mais vale confirmar do que perder prazo.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Treinamento do Operador · Módulo de Publicações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5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DICAS DE OURO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separa um operador bom de um operador ótimo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" cy="54864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64792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691640" y="1783080"/>
            <a:ext cx="36576" cy="768096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8288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Corrija a IA sempre que ela errar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20240" y="21945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correção sua faz o sistema melhorar. Não é trabalho extra — é o que transforma a IA em aliada.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70048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691640" y="2688336"/>
            <a:ext cx="36576" cy="768096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27340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Nunca confirme sem revisar o prazo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920240" y="309981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errado vira perda de prazo. Dois segundos de revisão evitam um problema grande.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575304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1691640" y="3593592"/>
            <a:ext cx="36576" cy="768096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36393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Priorize Confiança Baixa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920240" y="40050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por confiança baixa todo dia de manhã. São as que mais precisam do seu olhar.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1691640" y="4498848"/>
            <a:ext cx="36576" cy="768096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45445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Confira o CNJ antes de agendar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920240" y="491032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vínculo com o processo é o que garante rastreabilidade no Legal One. CNJ errado = bagunça.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385816"/>
            <a:ext cx="1005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1691640" y="5404104"/>
            <a:ext cx="36576" cy="768096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0240" y="54498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Cheque audiências do dia seguinte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920240" y="581558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filtro de data no fim da tarde. Se algo virou hoje, o advogado precisa saber antes da noite.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DunaFlow · Treinamento do Operador · Módulo de Publicações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149840" y="6583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9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0" kern="0" dirty="0">
                <a:solidFill>
                  <a:srgbClr val="1E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ESTAMOS AQUI.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DunaFlow é feito </a:t>
            </a:r>
            <a:pPr indent="0" marL="0">
              <a:buNone/>
            </a:pPr>
            <a:r>
              <a:rPr lang="en-US" sz="4200" b="1" i="1" dirty="0">
                <a:solidFill>
                  <a:srgbClr val="1E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você</a:t>
            </a:r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melhora a cada vez que você o usa.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1097280" cy="36576"/>
          </a:xfrm>
          <a:prstGeom prst="rect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657600"/>
            <a:ext cx="3584448" cy="2286000"/>
          </a:xfrm>
          <a:prstGeom prst="roundRect">
            <a:avLst>
              <a:gd name="adj" fmla="val 4000"/>
            </a:avLst>
          </a:prstGeom>
          <a:solidFill>
            <a:srgbClr val="162C5C"/>
          </a:solidFill>
          <a:ln w="9525">
            <a:solidFill>
              <a:srgbClr val="1E7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57984" y="3931920"/>
            <a:ext cx="731520" cy="731520"/>
          </a:xfrm>
          <a:prstGeom prst="ellipse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2576" y="409651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4846320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 coordenador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5303520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parada para dúvidas jurídicas ou de fluxo de trabalho.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53128" y="3657600"/>
            <a:ext cx="3584448" cy="2286000"/>
          </a:xfrm>
          <a:prstGeom prst="roundRect">
            <a:avLst>
              <a:gd name="adj" fmla="val 4000"/>
            </a:avLst>
          </a:prstGeom>
          <a:solidFill>
            <a:srgbClr val="162C5C"/>
          </a:solidFill>
          <a:ln w="9525">
            <a:solidFill>
              <a:srgbClr val="1E7B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79592" y="3931920"/>
            <a:ext cx="731520" cy="731520"/>
          </a:xfrm>
          <a:prstGeom prst="ellipse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84" y="409651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36008" y="4846320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 / Equipe HIT.LAB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81728" y="5303520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ti@mdradvocacia.com — erros técnicos, bugs, acesso, integrações.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74736" y="3657600"/>
            <a:ext cx="3584448" cy="2286000"/>
          </a:xfrm>
          <a:prstGeom prst="roundRect">
            <a:avLst>
              <a:gd name="adj" fmla="val 4000"/>
            </a:avLst>
          </a:prstGeom>
          <a:solidFill>
            <a:srgbClr val="162C5C"/>
          </a:solidFill>
          <a:ln w="9525">
            <a:solidFill>
              <a:srgbClr val="1E7B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601200" y="3931920"/>
            <a:ext cx="731520" cy="731520"/>
          </a:xfrm>
          <a:prstGeom prst="ellipse">
            <a:avLst/>
          </a:prstGeom>
          <a:solidFill>
            <a:srgbClr val="1E7BFF"/>
          </a:solidFill>
          <a:ln w="12700">
            <a:solidFill>
              <a:srgbClr val="1E7B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2" y="409651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57616" y="4846320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de produto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03336" y="5303520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ideia de melhoria? Fale com a equipe Hub de Inovação — é como o DunaFlow cresce.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3152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EA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 Advocacia  ·  HIT.LAB  ·  DunaFlow  ·  Treinamento do Operador v1.0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MDR Advocacia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DunaFlow · Treinamento — Módulo de Publicações</dc:title>
  <dc:subject>PptxGenJS Presentation</dc:subject>
  <dc:creator>MDR Advocacia · HIT.LAB</dc:creator>
  <cp:lastModifiedBy>MDR Advocacia · HIT.LAB</cp:lastModifiedBy>
  <cp:revision>1</cp:revision>
  <dcterms:created xsi:type="dcterms:W3CDTF">2026-04-23T17:18:18Z</dcterms:created>
  <dcterms:modified xsi:type="dcterms:W3CDTF">2026-04-23T17:18:18Z</dcterms:modified>
</cp:coreProperties>
</file>